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ib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000"/>
            <a:ext cx="533400" cy="5969000"/>
          </a:xfrm>
          <a:prstGeom prst="rect">
            <a:avLst/>
          </a:prstGeom>
        </p:spPr>
      </p:pic>
      <p:pic>
        <p:nvPicPr>
          <p:cNvPr id="3" name="Picture 2" descr="_aste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200" y="228600"/>
            <a:ext cx="889000" cy="86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1200" y="381000"/>
            <a:ext cx="9652000" cy="406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380" b="0" spc="15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先行施策｜プリザーブドフラワーの卸販売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0" y="6426200"/>
            <a:ext cx="5080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>
              <a:lnSpc>
                <a:spcPct val="100000"/>
              </a:lnSpc>
            </a:pPr>
            <a:r>
              <a:rPr sz="1370" b="0" spc="0">
                <a:solidFill>
                  <a:srgbClr val="4B4B4B"/>
                </a:solidFill>
                <a:latin typeface="Arial"/>
                <a:ea typeface="Yu Gothic"/>
                <a:cs typeface="Yu 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1155700"/>
            <a:ext cx="1104900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50" b="1" spc="0">
                <a:solidFill>
                  <a:srgbClr val="B95B45"/>
                </a:solidFill>
                <a:latin typeface="Yu Gothic"/>
                <a:ea typeface="Yu Gothic"/>
                <a:cs typeface="Yu Gothic"/>
              </a:rPr>
              <a:t>クリスマス・バレンタインから小さく始める先行施策です。Domuzが商品を卸し、貴社倉庫から発送いただきます。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1549400"/>
            <a:ext cx="60960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70" b="1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商品候補（プリザーブド・ドライ／価格は下代・税抜）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200" y="1803400"/>
            <a:ext cx="1930400" cy="31242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6E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_p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930400"/>
            <a:ext cx="1676400" cy="162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200" y="3683000"/>
            <a:ext cx="1676400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b="1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ガラスボックス（一輪）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937000"/>
            <a:ext cx="1676400" cy="43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0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プリザーブド</a:t>
            </a:r>
          </a:p>
          <a:p>
            <a:pPr algn="l">
              <a:lnSpc>
                <a:spcPct val="125000"/>
              </a:lnSpc>
            </a:pPr>
            <a:r>
              <a:rPr sz="90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M 直径4×高さ16cm</a:t>
            </a:r>
          </a:p>
          <a:p>
            <a:pPr algn="l">
              <a:lnSpc>
                <a:spcPct val="125000"/>
              </a:lnSpc>
            </a:pPr>
            <a:r>
              <a:rPr sz="90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L 直径5×高さ21cm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19600"/>
            <a:ext cx="1676400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5000"/>
              </a:lnSpc>
            </a:pPr>
            <a:r>
              <a:rPr sz="1350" b="1" spc="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M 950円</a:t>
            </a:r>
          </a:p>
          <a:p>
            <a:pPr algn="l">
              <a:lnSpc>
                <a:spcPct val="115000"/>
              </a:lnSpc>
            </a:pPr>
            <a:r>
              <a:rPr sz="1350" b="1" spc="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L 1,200円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000" y="1803400"/>
            <a:ext cx="1930400" cy="31242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6E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_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1000" y="1930400"/>
            <a:ext cx="1676400" cy="1625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21000" y="3683000"/>
            <a:ext cx="1676400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b="1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プラスチックボックス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1000" y="3937000"/>
            <a:ext cx="1676400" cy="43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0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プリザーブド・ドライ</a:t>
            </a:r>
          </a:p>
          <a:p>
            <a:pPr algn="l">
              <a:lnSpc>
                <a:spcPct val="125000"/>
              </a:lnSpc>
            </a:pPr>
            <a:r>
              <a:rPr sz="90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直径5×高さ18cm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1000" y="4419600"/>
            <a:ext cx="1676400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5000"/>
              </a:lnSpc>
            </a:pPr>
            <a:r>
              <a:rPr sz="1350" b="1" spc="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1,300円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0" y="1803400"/>
            <a:ext cx="1930400" cy="31242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6E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_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3800" y="1930400"/>
            <a:ext cx="1676400" cy="1625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03800" y="3683000"/>
            <a:ext cx="1676400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b="1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ドームボックス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3800" y="3937000"/>
            <a:ext cx="1676400" cy="43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90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プリザーブド・ドライ</a:t>
            </a:r>
          </a:p>
          <a:p>
            <a:pPr algn="l">
              <a:lnSpc>
                <a:spcPct val="125000"/>
              </a:lnSpc>
            </a:pPr>
            <a:r>
              <a:rPr sz="90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直径9×高さ7.7cm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3800" y="4419600"/>
            <a:ext cx="1676400" cy="431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5000"/>
              </a:lnSpc>
            </a:pPr>
            <a:r>
              <a:rPr sz="1350" b="1" spc="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1,500円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200" y="5029200"/>
            <a:ext cx="609600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5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※ このほかガラスボックス（ブーケ）1,600円、スクエアボックス 1,900円などもご用意しています。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8200" y="1549400"/>
            <a:ext cx="44704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70" b="1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進め方（物の流れ）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88200" y="1803400"/>
            <a:ext cx="1320800" cy="711200"/>
          </a:xfrm>
          <a:prstGeom prst="roundRect">
            <a:avLst>
              <a:gd name="adj" fmla="val 8928"/>
            </a:avLst>
          </a:prstGeom>
          <a:solidFill>
            <a:srgbClr val="FBEA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9800" y="1854200"/>
            <a:ext cx="11176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50" b="1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Domuz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9800" y="2070100"/>
            <a:ext cx="1117600" cy="406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85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商品を製作し</a:t>
            </a:r>
          </a:p>
          <a:p>
            <a:pPr algn="l">
              <a:lnSpc>
                <a:spcPct val="120000"/>
              </a:lnSpc>
            </a:pPr>
            <a:r>
              <a:rPr sz="85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貴社倉庫へ納品</a:t>
            </a:r>
          </a:p>
        </p:txBody>
      </p:sp>
      <p:sp>
        <p:nvSpPr>
          <p:cNvPr id="28" name="Chevron 27"/>
          <p:cNvSpPr/>
          <p:nvPr/>
        </p:nvSpPr>
        <p:spPr>
          <a:xfrm>
            <a:off x="8547100" y="2057400"/>
            <a:ext cx="177800" cy="203200"/>
          </a:xfrm>
          <a:prstGeom prst="chevron">
            <a:avLst/>
          </a:prstGeom>
          <a:solidFill>
            <a:srgbClr val="F0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63000" y="1803400"/>
            <a:ext cx="1320800" cy="711200"/>
          </a:xfrm>
          <a:prstGeom prst="roundRect">
            <a:avLst>
              <a:gd name="adj" fmla="val 8928"/>
            </a:avLst>
          </a:prstGeom>
          <a:solidFill>
            <a:srgbClr val="FBEA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4600" y="1854200"/>
            <a:ext cx="11176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50" b="1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貴社倉庫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4600" y="2070100"/>
            <a:ext cx="1117600" cy="406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85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保管し、注文ごとに</a:t>
            </a:r>
          </a:p>
          <a:p>
            <a:pPr algn="l">
              <a:lnSpc>
                <a:spcPct val="120000"/>
              </a:lnSpc>
            </a:pPr>
            <a:r>
              <a:rPr sz="85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発送</a:t>
            </a:r>
          </a:p>
        </p:txBody>
      </p:sp>
      <p:sp>
        <p:nvSpPr>
          <p:cNvPr id="32" name="Chevron 31"/>
          <p:cNvSpPr/>
          <p:nvPr/>
        </p:nvSpPr>
        <p:spPr>
          <a:xfrm>
            <a:off x="10121900" y="2057400"/>
            <a:ext cx="177800" cy="203200"/>
          </a:xfrm>
          <a:prstGeom prst="chevron">
            <a:avLst/>
          </a:prstGeom>
          <a:solidFill>
            <a:srgbClr val="F0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37800" y="1803400"/>
            <a:ext cx="1320800" cy="711200"/>
          </a:xfrm>
          <a:prstGeom prst="roundRect">
            <a:avLst>
              <a:gd name="adj" fmla="val 8928"/>
            </a:avLst>
          </a:prstGeom>
          <a:solidFill>
            <a:srgbClr val="FBEA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39400" y="1854200"/>
            <a:ext cx="11176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50" b="1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受け手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39400" y="2070100"/>
            <a:ext cx="1117600" cy="406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85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プリザーブドの</a:t>
            </a:r>
          </a:p>
          <a:p>
            <a:pPr algn="l">
              <a:lnSpc>
                <a:spcPct val="120000"/>
              </a:lnSpc>
            </a:pPr>
            <a:r>
              <a:rPr sz="850" b="0" spc="0">
                <a:solidFill>
                  <a:srgbClr val="5F6670"/>
                </a:solidFill>
                <a:latin typeface="Yu Gothic"/>
                <a:ea typeface="Yu Gothic"/>
                <a:cs typeface="Yu Gothic"/>
              </a:rPr>
              <a:t>ギフトが届く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88200" y="2692400"/>
            <a:ext cx="4470400" cy="223520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6E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6000" y="2857500"/>
            <a:ext cx="7874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050" b="1" spc="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想定シーン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4200" y="2844800"/>
            <a:ext cx="32766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050" b="0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クリスマス、バレンタイン・ホワイトデー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6000" y="3263900"/>
            <a:ext cx="7874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050" b="1" spc="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発送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4200" y="3251200"/>
            <a:ext cx="32766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050" b="1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貴社倉庫から発送（Domuzは納品まで）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6000" y="3670300"/>
            <a:ext cx="7874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050" b="1" spc="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情報連携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4200" y="3657600"/>
            <a:ext cx="32766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050" b="0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不要。受注・有効化システムとの接続はありません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6000" y="4076700"/>
            <a:ext cx="7874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050" b="1" spc="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取引条件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4200" y="4064000"/>
            <a:ext cx="32766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050" b="0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最低ロット100個〜、請求書払い、送料別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6000" y="4483100"/>
            <a:ext cx="7874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050" b="1" spc="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品質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04200" y="4470400"/>
            <a:ext cx="32766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050" b="0" spc="0">
                <a:solidFill>
                  <a:srgbClr val="30343B"/>
                </a:solidFill>
                <a:latin typeface="Yu Gothic"/>
                <a:ea typeface="Yu Gothic"/>
                <a:cs typeface="Yu Gothic"/>
              </a:rPr>
              <a:t>保存状態が良ければ1〜3年美しさを保ちます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1200" y="5334000"/>
            <a:ext cx="10947400" cy="279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1590" b="1" spc="0">
                <a:solidFill>
                  <a:srgbClr val="B95B45"/>
                </a:solidFill>
                <a:latin typeface="Yu Gothic"/>
                <a:ea typeface="Yu Gothic"/>
                <a:cs typeface="Yu Gothic"/>
              </a:rPr>
              <a:t>発送は貴社倉庫から行っていただきます。Domuzは商品の製作と貴社倉庫への一括納品までを担当します。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6172200"/>
            <a:ext cx="109474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080" b="0" spc="30">
                <a:solidFill>
                  <a:srgbClr val="60382C"/>
                </a:solidFill>
                <a:latin typeface="Yu Gothic"/>
                <a:ea typeface="Yu Gothic"/>
                <a:cs typeface="Yu Gothic"/>
              </a:rPr>
              <a:t>※ 価格はすべて下代（卸値・税抜）、送料別。販売価格（上代）は貴社で自由に設定いただけます。箔押し等のカスタマイズは別途ご相談ください。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
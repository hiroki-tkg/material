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00"/>
            <a:ext cx="533400" cy="5969000"/>
          </a:xfrm>
          <a:prstGeom prst="rect">
            <a:avLst/>
          </a:prstGeom>
        </p:spPr>
      </p:pic>
      <p:pic>
        <p:nvPicPr>
          <p:cNvPr id="3" name="Picture 2" descr="_aste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00" y="228600"/>
            <a:ext cx="889000" cy="86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1200" y="3810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380" b="1" spc="15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株式会社Domuzについて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26200"/>
            <a:ext cx="5080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100000"/>
              </a:lnSpc>
            </a:pPr>
            <a:r>
              <a:rPr sz="1370" b="0" spc="0">
                <a:solidFill>
                  <a:srgbClr val="4B4B4B"/>
                </a:solidFill>
                <a:latin typeface="Arial"/>
                <a:ea typeface="Yu Gothic"/>
                <a:cs typeface="Yu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1155700"/>
            <a:ext cx="110490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b="1" spc="0">
                <a:solidFill>
                  <a:srgbClr val="B95B45"/>
                </a:solidFill>
                <a:latin typeface="Yu Gothic"/>
                <a:ea typeface="Yu Gothic"/>
                <a:cs typeface="Yu Gothic"/>
              </a:rPr>
              <a:t>お花のD2C「AND FLOWER」を運営し、川崎の自社拠点で花の仕入れからブーケの製作、発送までを一貫して手がけています。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1701800"/>
            <a:ext cx="5080000" cy="406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02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株式会社 </a:t>
            </a:r>
            <a:r>
              <a:rPr sz="238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Domuz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2311400"/>
            <a:ext cx="10668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9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代表者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2260600"/>
            <a:ext cx="5715000" cy="355600"/>
          </a:xfrm>
          <a:prstGeom prst="rect">
            <a:avLst/>
          </a:prstGeom>
          <a:noFill/>
        </p:spPr>
        <p:txBody>
          <a:bodyPr wrap="none" anchor="b" lIns="0" rIns="0" tIns="0" bIns="0"/>
          <a:lstStyle/>
          <a:p>
            <a:pPr algn="l">
              <a:lnSpc>
                <a:spcPct val="100000"/>
              </a:lnSpc>
            </a:pPr>
            <a:r>
              <a:rPr sz="2020" b="0" spc="10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髙木 弘貴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2781300"/>
            <a:ext cx="10668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9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設立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8000" y="2730500"/>
            <a:ext cx="5715000" cy="355600"/>
          </a:xfrm>
          <a:prstGeom prst="rect">
            <a:avLst/>
          </a:prstGeom>
          <a:noFill/>
        </p:spPr>
        <p:txBody>
          <a:bodyPr wrap="none" anchor="b" lIns="0" rIns="0" tIns="0" bIns="0"/>
          <a:lstStyle/>
          <a:p>
            <a:pPr algn="l">
              <a:lnSpc>
                <a:spcPct val="100000"/>
              </a:lnSpc>
            </a:pPr>
            <a:r>
              <a:rPr sz="2020" b="0" spc="10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2018年10月11日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251200"/>
            <a:ext cx="10668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9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従業員数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8000" y="3200400"/>
            <a:ext cx="5715000" cy="355600"/>
          </a:xfrm>
          <a:prstGeom prst="rect">
            <a:avLst/>
          </a:prstGeom>
          <a:noFill/>
        </p:spPr>
        <p:txBody>
          <a:bodyPr wrap="none" anchor="b" lIns="0" rIns="0" tIns="0" bIns="0"/>
          <a:lstStyle/>
          <a:p>
            <a:pPr algn="l">
              <a:lnSpc>
                <a:spcPct val="100000"/>
              </a:lnSpc>
            </a:pPr>
            <a:r>
              <a:rPr sz="2020" b="0" spc="10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69名</a:t>
            </a:r>
            <a:r>
              <a:rPr sz="790" b="0" spc="15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　2026年8月時点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" y="3721100"/>
            <a:ext cx="10668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9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本社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8000" y="3670300"/>
            <a:ext cx="5715000" cy="355600"/>
          </a:xfrm>
          <a:prstGeom prst="rect">
            <a:avLst/>
          </a:prstGeom>
          <a:noFill/>
        </p:spPr>
        <p:txBody>
          <a:bodyPr wrap="none" anchor="b" lIns="0" rIns="0" tIns="0" bIns="0"/>
          <a:lstStyle/>
          <a:p>
            <a:pPr algn="l">
              <a:lnSpc>
                <a:spcPct val="100000"/>
              </a:lnSpc>
            </a:pPr>
            <a:r>
              <a:rPr sz="2020" b="0" spc="10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神奈川県川崎市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4191000"/>
            <a:ext cx="10668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90" b="1" spc="10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事業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8000" y="4140200"/>
            <a:ext cx="5715000" cy="355600"/>
          </a:xfrm>
          <a:prstGeom prst="rect">
            <a:avLst/>
          </a:prstGeom>
          <a:noFill/>
        </p:spPr>
        <p:txBody>
          <a:bodyPr wrap="none" anchor="b" lIns="0" rIns="0" tIns="0" bIns="0"/>
          <a:lstStyle/>
          <a:p>
            <a:pPr algn="l">
              <a:lnSpc>
                <a:spcPct val="100000"/>
              </a:lnSpc>
            </a:pPr>
            <a:r>
              <a:rPr sz="2020" b="0" spc="100">
                <a:solidFill>
                  <a:srgbClr val="4B4B4B"/>
                </a:solidFill>
                <a:latin typeface="Yu Gothic"/>
                <a:ea typeface="Yu Gothic"/>
                <a:cs typeface="Yu Gothic"/>
              </a:rPr>
              <a:t>花と植物のD2C、花卉産業マーケットプレイス</a:t>
            </a:r>
          </a:p>
        </p:txBody>
      </p:sp>
      <p:pic>
        <p:nvPicPr>
          <p:cNvPr id="18" name="Picture 17" descr="_photo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1701800"/>
            <a:ext cx="1320800" cy="2235200"/>
          </a:xfrm>
          <a:prstGeom prst="rect">
            <a:avLst/>
          </a:prstGeom>
        </p:spPr>
      </p:pic>
      <p:pic>
        <p:nvPicPr>
          <p:cNvPr id="19" name="Picture 18" descr="_photo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701800"/>
            <a:ext cx="1320800" cy="2235200"/>
          </a:xfrm>
          <a:prstGeom prst="rect">
            <a:avLst/>
          </a:prstGeom>
        </p:spPr>
      </p:pic>
      <p:pic>
        <p:nvPicPr>
          <p:cNvPr id="20" name="Picture 19" descr="_photo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800" y="1701800"/>
            <a:ext cx="1320800" cy="2235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93000" y="4013200"/>
            <a:ext cx="41656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1080" b="0" spc="5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【AND FLOWER ブーケ・アレンジメント製作例】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200" y="4724400"/>
            <a:ext cx="3513666" cy="127000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_car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4864100"/>
            <a:ext cx="990600" cy="990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06600" y="4902200"/>
            <a:ext cx="206586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8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お花のD2C「AND FLOWER」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6600" y="5181600"/>
            <a:ext cx="2065866" cy="711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6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2021年より運営。ギフト向けのブーケ・アレンジメントをオンラインで届けています。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8066" y="4724400"/>
            <a:ext cx="3513666" cy="127000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_car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0466" y="4864100"/>
            <a:ext cx="990600" cy="990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23466" y="4902200"/>
            <a:ext cx="206586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8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生花発送拠点 @川崎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3466" y="5181600"/>
            <a:ext cx="2065866" cy="711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6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約500㎡の拠点に60㎡の花用冷蔵庫を完備。品質を保ったまま製作・発送できます。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4933" y="4724400"/>
            <a:ext cx="3513666" cy="1270000"/>
          </a:xfrm>
          <a:prstGeom prst="roundRect">
            <a:avLst>
              <a:gd name="adj" fmla="val 6000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_car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7333" y="4864100"/>
            <a:ext cx="990600" cy="990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40333" y="4902200"/>
            <a:ext cx="2065866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8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法人・大量発注に対応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0333" y="5181600"/>
            <a:ext cx="2065866" cy="711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6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母の日などの繁忙期を含め、法人様向けの大量発注にも対応しています。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6172200"/>
            <a:ext cx="1094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80" b="0" spc="3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※ このほか、観葉植物EC「AND PLANTS」、花卉産業向け卸マーケットプレイス「ハナイチ」を運営しています。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
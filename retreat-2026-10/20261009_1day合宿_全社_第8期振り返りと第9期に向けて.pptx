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第8期（2025年10月〜2026年9月）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848255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8.34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966936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売上総利益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226340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5.02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57" y="434502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粗利率 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957" y="1361872"/>
            <a:ext cx="324255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月次売上　単位：百万円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1957" y="3443504"/>
            <a:ext cx="324255" cy="142032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0894" y="3216526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894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9702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638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63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11月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447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6383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6383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12月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5191" y="2961265"/>
            <a:ext cx="324255" cy="190256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128" y="2734287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12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2936" y="3549069"/>
            <a:ext cx="324255" cy="131476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1872" y="332209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7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90681" y="3244371"/>
            <a:ext cx="324255" cy="161945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09617" y="301739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9617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8426" y="2503018"/>
            <a:ext cx="324255" cy="236081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7362" y="227604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736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4月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66170" y="2188723"/>
            <a:ext cx="324255" cy="267510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5106" y="19617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510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3915" y="3376327"/>
            <a:ext cx="324255" cy="1487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22851" y="314934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851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6月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41660" y="3385923"/>
            <a:ext cx="324255" cy="147790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596" y="31589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59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79404" y="3455500"/>
            <a:ext cx="324255" cy="140833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8340" y="322852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8340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17149" y="3287556"/>
            <a:ext cx="324255" cy="157627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36085" y="306057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36085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37106" y="4863830"/>
            <a:ext cx="5252937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5月に、創業以来はじめて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月商1億円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を超えた。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試算表（2026/10/8時点）の暫定値・決算整理前。9月は棚卸未反映。売上高は決算整理▲404万円を含む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サービス開始からの推移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四半期の売上（事業別）　単位：百万円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83660" y="1297021"/>
            <a:ext cx="129702" cy="12970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8213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PLANTS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799617" y="1297021"/>
            <a:ext cx="129702" cy="12970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4170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FLOWER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5574" y="1297021"/>
            <a:ext cx="129702" cy="12970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0128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660" y="4921579"/>
            <a:ext cx="194553" cy="233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596" y="471081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5489" y="4853664"/>
            <a:ext cx="194553" cy="9122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4426" y="4642898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67319" y="4766490"/>
            <a:ext cx="194553" cy="17840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7319" y="4763449"/>
            <a:ext cx="194553" cy="304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6255" y="455268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59149" y="4713779"/>
            <a:ext cx="194553" cy="2311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59149" y="4691479"/>
            <a:ext cx="194553" cy="2230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8085" y="448071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50979" y="4690465"/>
            <a:ext cx="194553" cy="25442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50979" y="4618495"/>
            <a:ext cx="194553" cy="7197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9915" y="4407729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42809" y="4659042"/>
            <a:ext cx="194553" cy="28585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42809" y="4630659"/>
            <a:ext cx="194553" cy="2838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61745" y="441989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4638" y="4617482"/>
            <a:ext cx="194553" cy="32741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4638" y="4575922"/>
            <a:ext cx="194553" cy="4156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53574" y="4365156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26468" y="4524225"/>
            <a:ext cx="194553" cy="42066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26468" y="4462392"/>
            <a:ext cx="194553" cy="61833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5404" y="4251626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18298" y="4356971"/>
            <a:ext cx="194553" cy="58792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18298" y="4185663"/>
            <a:ext cx="194553" cy="171308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7234" y="397489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10128" y="4312370"/>
            <a:ext cx="194553" cy="632523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10128" y="4229250"/>
            <a:ext cx="194553" cy="8312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29064" y="401848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957" y="4286015"/>
            <a:ext cx="194553" cy="65887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1957" y="4176540"/>
            <a:ext cx="194553" cy="109475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0894" y="396577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93787" y="4026518"/>
            <a:ext cx="194553" cy="91837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93787" y="3822773"/>
            <a:ext cx="194553" cy="20374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793787" y="3816691"/>
            <a:ext cx="194553" cy="608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12723" y="360592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85617" y="3751817"/>
            <a:ext cx="194553" cy="1193077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085617" y="3331148"/>
            <a:ext cx="194553" cy="420669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85617" y="3289588"/>
            <a:ext cx="194553" cy="415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04553" y="3078822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163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77447" y="3732557"/>
            <a:ext cx="194553" cy="1212337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77447" y="3457855"/>
            <a:ext cx="194553" cy="27470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77447" y="3383858"/>
            <a:ext cx="194553" cy="7399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6383" y="3173092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69277" y="3829868"/>
            <a:ext cx="194553" cy="111502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669277" y="3494347"/>
            <a:ext cx="194553" cy="33552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669277" y="3464951"/>
            <a:ext cx="194553" cy="2939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88213" y="325418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146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61106" y="3470019"/>
            <a:ext cx="194553" cy="147487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61106" y="3100034"/>
            <a:ext cx="194553" cy="36998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61106" y="3042255"/>
            <a:ext cx="194553" cy="5777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80043" y="2831489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52936" y="3211536"/>
            <a:ext cx="194553" cy="173335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252936" y="2640846"/>
            <a:ext cx="194553" cy="57069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2936" y="2531371"/>
            <a:ext cx="194553" cy="109475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71872" y="232060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238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44766" y="3645382"/>
            <a:ext cx="194553" cy="129951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44766" y="3283506"/>
            <a:ext cx="194553" cy="36187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44766" y="3172003"/>
            <a:ext cx="194553" cy="111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63702" y="296123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36596" y="3660233"/>
            <a:ext cx="194553" cy="128466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36596" y="3213536"/>
            <a:ext cx="194553" cy="446697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836596" y="3133109"/>
            <a:ext cx="194553" cy="8042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55532" y="292234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28426" y="3410499"/>
            <a:ext cx="194553" cy="153439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8426" y="3007625"/>
            <a:ext cx="194553" cy="402874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8426" y="2900120"/>
            <a:ext cx="194553" cy="107505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47362" y="268935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20255" y="3066679"/>
            <a:ext cx="194553" cy="18782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20255" y="2340509"/>
            <a:ext cx="194553" cy="72617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20255" y="2188723"/>
            <a:ext cx="194553" cy="15178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39191" y="197795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272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12085" y="3557815"/>
            <a:ext cx="194553" cy="138707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712085" y="3265023"/>
            <a:ext cx="194553" cy="292793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712085" y="3099669"/>
            <a:ext cx="194553" cy="16535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31021" y="288890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182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18809" y="4944894"/>
            <a:ext cx="6436468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8" name="TextBox 87"/>
          <p:cNvSpPr txBox="1"/>
          <p:nvPr/>
        </p:nvSpPr>
        <p:spPr>
          <a:xfrm>
            <a:off x="526915" y="5042170"/>
            <a:ext cx="583660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第3期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10574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0" name="TextBox 89"/>
          <p:cNvSpPr txBox="1"/>
          <p:nvPr/>
        </p:nvSpPr>
        <p:spPr>
          <a:xfrm>
            <a:off x="1110574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第4期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77894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2277894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第5期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45213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3445213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第6期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612532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6" name="TextBox 95"/>
          <p:cNvSpPr txBox="1"/>
          <p:nvPr/>
        </p:nvSpPr>
        <p:spPr>
          <a:xfrm>
            <a:off x="4612532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779851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8" name="TextBox 97"/>
          <p:cNvSpPr txBox="1"/>
          <p:nvPr/>
        </p:nvSpPr>
        <p:spPr>
          <a:xfrm>
            <a:off x="5779851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リリースから5年で、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四半期2.7億円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の規模になった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第3〜7期は事業別の集計（注文日ベース・税抜）。第8期は試算表の売上高を事業別の比率で按分（イネイブラー等を含む）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事業別の数字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766" y="3239851"/>
            <a:ext cx="972766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7915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851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948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463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357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362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927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927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8085" y="3214760"/>
            <a:ext cx="972766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3234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2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1480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9957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889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28681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66927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
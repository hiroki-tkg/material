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8213" y="2172511"/>
            <a:ext cx="7295745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136" b="0" spc="500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1DAY OFFSITE  2026.10.09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213" y="2626468"/>
            <a:ext cx="7782128" cy="113489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Domuz 全社</a:t>
            </a:r>
          </a:p>
          <a:p>
            <a:pPr algn="l">
              <a:lnSpc>
                <a:spcPct val="135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第8期の振り返りと、第9期に向けて</a:t>
            </a:r>
          </a:p>
        </p:txBody>
      </p:sp>
      <p:sp>
        <p:nvSpPr>
          <p:cNvPr id="4" name="Rectangle 3"/>
          <p:cNvSpPr/>
          <p:nvPr/>
        </p:nvSpPr>
        <p:spPr>
          <a:xfrm>
            <a:off x="778213" y="4053191"/>
            <a:ext cx="518809" cy="32426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8213" y="4377447"/>
            <a:ext cx="4863830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263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株式会社Domuz　髙木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今日の合宿の目的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8213" y="1913106"/>
            <a:ext cx="648511" cy="6485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1277" y="2010383"/>
            <a:ext cx="6485106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目線を上げる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8213" y="2853447"/>
            <a:ext cx="7587574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8213" y="3112851"/>
            <a:ext cx="648511" cy="6485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1277" y="3210128"/>
            <a:ext cx="6485106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チーム感を高める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8213" y="4053191"/>
            <a:ext cx="7587574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78213" y="4312596"/>
            <a:ext cx="648511" cy="6485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1277" y="4409872"/>
            <a:ext cx="6485106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今後の方針のシェア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2618362"/>
            <a:ext cx="8236085" cy="162127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404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目線を上げる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2618362"/>
            <a:ext cx="8236085" cy="162127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404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チーム感を高める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2618362"/>
            <a:ext cx="8236085" cy="162127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404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今後の方針のシェア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今日の合宿の目的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8213" y="1913106"/>
            <a:ext cx="648511" cy="6485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1277" y="2010383"/>
            <a:ext cx="6485106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目線を上げる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8213" y="2853447"/>
            <a:ext cx="7587574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8213" y="3112851"/>
            <a:ext cx="648511" cy="6485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1277" y="3210128"/>
            <a:ext cx="6485106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チーム感を高める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8213" y="4053191"/>
            <a:ext cx="7587574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78213" y="4312596"/>
            <a:ext cx="648511" cy="6485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1277" y="4409872"/>
            <a:ext cx="6485106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今後の方針のシェア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3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511" y="2431915"/>
            <a:ext cx="7846979" cy="162127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4042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第8期、大変お疲れ様でした！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3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511" y="1945532"/>
            <a:ext cx="3242553" cy="1215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7578" b="0">
                <a:ln w="19050">
                  <a:solidFill>
                    <a:srgbClr val="FFFFFF"/>
                  </a:solidFill>
                </a:ln>
                <a:noFill/>
                <a:latin typeface="Outfit"/>
                <a:ea typeface="Outfit"/>
                <a:cs typeface="Outfi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511" y="3372255"/>
            <a:ext cx="6485106" cy="25940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 spc="600">
                <a:solidFill>
                  <a:srgbClr val="FFFFFF"/>
                </a:solidFill>
                <a:latin typeface="Outfit"/>
                <a:ea typeface="Outfit"/>
                <a:cs typeface="Outfit"/>
              </a:rPr>
              <a:t>FY8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511" y="3728936"/>
            <a:ext cx="7295745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第8期の振り返り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511" y="4409872"/>
            <a:ext cx="7295745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数字と、起きたこと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全社の数字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第8期（2025年10月〜2026年9月）　※税抜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1588851"/>
            <a:ext cx="2756170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売上高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957" y="1848255"/>
            <a:ext cx="2756170" cy="68093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45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8.34</a:t>
            </a: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億円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957" y="2966936"/>
            <a:ext cx="2756170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売上総利益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957" y="3226340"/>
            <a:ext cx="2756170" cy="68093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45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5.02</a:t>
            </a: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億円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957" y="4345021"/>
            <a:ext cx="2756170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粗利率 60%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1957" y="1361872"/>
            <a:ext cx="324255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月次売上　単位：百万円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01957" y="3443504"/>
            <a:ext cx="324255" cy="1420326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0894" y="3216526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59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0894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10月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39702" y="3429109"/>
            <a:ext cx="324255" cy="1434721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58638" y="3202130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58638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11月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77447" y="3429109"/>
            <a:ext cx="324255" cy="1434721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6383" y="3202130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6383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12月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15191" y="2961265"/>
            <a:ext cx="324255" cy="1902564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4128" y="2734287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79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4128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1月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52936" y="3549069"/>
            <a:ext cx="324255" cy="1314761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71872" y="3322090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55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71872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2月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90681" y="3244371"/>
            <a:ext cx="324255" cy="1619459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09617" y="3017392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09617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3月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8426" y="2503018"/>
            <a:ext cx="324255" cy="2360811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47362" y="2276040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47362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4月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66170" y="2188723"/>
            <a:ext cx="324255" cy="2675106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85106" y="1961745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85106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5月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03915" y="3376327"/>
            <a:ext cx="324255" cy="1487503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22851" y="3149348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22851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6月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41660" y="3385923"/>
            <a:ext cx="324255" cy="1477906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60596" y="3158945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62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60596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7月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79404" y="3455500"/>
            <a:ext cx="324255" cy="1408330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98340" y="3228522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59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98340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8月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17149" y="3287556"/>
            <a:ext cx="324255" cy="1576273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36085" y="3060578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66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36085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9月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437106" y="4863830"/>
            <a:ext cx="5252937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53957" y="5512340"/>
            <a:ext cx="8236085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5月に、創業以来はじめて</a:t>
            </a:r>
            <a:r>
              <a:rPr sz="176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月商1億円</a:t>
            </a: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を超えた。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3957" y="6241915"/>
            <a:ext cx="7782128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884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※ 試算表（2026/10/8時点）の暫定値・決算整理前。9月は棚卸未反映。売上高は決算整理▲404万円を含む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事業別の数字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第7期 → 第8期（前年比）　※税抜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1394298"/>
            <a:ext cx="2788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AND PLANTS / AND FLOWER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957" y="1653702"/>
            <a:ext cx="2788596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売上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957" y="2026596"/>
            <a:ext cx="2788596" cy="5836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3536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+2%</a:t>
            </a:r>
          </a:p>
        </p:txBody>
      </p:sp>
      <p:sp>
        <p:nvSpPr>
          <p:cNvPr id="9" name="Rectangle 8"/>
          <p:cNvSpPr/>
          <p:nvPr/>
        </p:nvSpPr>
        <p:spPr>
          <a:xfrm>
            <a:off x="843064" y="3290753"/>
            <a:ext cx="778213" cy="1735204"/>
          </a:xfrm>
          <a:prstGeom prst="rect">
            <a:avLst/>
          </a:prstGeom>
          <a:solidFill>
            <a:srgbClr val="CBD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0936" y="2998924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7.2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0936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第7期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45532" y="3242553"/>
            <a:ext cx="778213" cy="1783404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83404" y="2950723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7.4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404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8511" y="5025957"/>
            <a:ext cx="2399489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3957" y="2691319"/>
            <a:ext cx="2788596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単位：億円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72255" y="1394298"/>
            <a:ext cx="2788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AND PLANTS / AND FLOWER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72255" y="1653702"/>
            <a:ext cx="2788596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広告費込み限界利益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72255" y="2026596"/>
            <a:ext cx="2788596" cy="5836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3536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+47%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1362" y="3810000"/>
            <a:ext cx="778213" cy="1215957"/>
          </a:xfrm>
          <a:prstGeom prst="rect">
            <a:avLst/>
          </a:prstGeom>
          <a:solidFill>
            <a:srgbClr val="CBD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99234" y="3518170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99234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第7期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3830" y="3242553"/>
            <a:ext cx="778213" cy="1783404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1702" y="2950723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2.2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1702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566809" y="5025957"/>
            <a:ext cx="2399489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372255" y="2691319"/>
            <a:ext cx="2788596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単位：億円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90553" y="1394298"/>
            <a:ext cx="2788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ハナイチ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0553" y="1653702"/>
            <a:ext cx="2788596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売上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0553" y="2026596"/>
            <a:ext cx="2788596" cy="5836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3536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+22%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79660" y="3561030"/>
            <a:ext cx="778213" cy="1464928"/>
          </a:xfrm>
          <a:prstGeom prst="rect">
            <a:avLst/>
          </a:prstGeom>
          <a:solidFill>
            <a:srgbClr val="CBD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7532" y="3269200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4,540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7532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第7期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82128" y="3242553"/>
            <a:ext cx="778213" cy="1783404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20000" y="2950723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5,527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0000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485106" y="5025957"/>
            <a:ext cx="2399490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290553" y="2691319"/>
            <a:ext cx="2788596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単位：万円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957" y="5593404"/>
            <a:ext cx="8106383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広告を絞っても売上は落とさず、</a:t>
            </a:r>
            <a:r>
              <a:rPr sz="176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利益が大きく残る形</a:t>
            </a: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に変わった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3957" y="6241915"/>
            <a:ext cx="7782128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884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※ AP/AFは自社EC＋モール、税抜（小松資料）。ハナイチは税抜・植木鉢＋生花ほか（比須田資料）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第8期に変わったこと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2431915"/>
            <a:ext cx="8106383" cy="129702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判断の基準が、</a:t>
            </a:r>
          </a:p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「売れるか」から「</a:t>
            </a:r>
            <a:r>
              <a:rPr sz="2905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利益が残るか</a:t>
            </a: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」に変わった。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4215319"/>
            <a:ext cx="8106383" cy="97276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AP/AFは広告費を約3割削り、利益を1.5倍に。</a:t>
            </a:r>
          </a:p>
          <a:p>
            <a:pPr algn="l">
              <a:lnSpc>
                <a:spcPct val="16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ハナイチは広告を減らしながら、注文数を2.3倍に。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第8期にやったこと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2025年10月〜2026年9月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83660" y="1913106"/>
            <a:ext cx="7976680" cy="0"/>
          </a:xfrm>
          <a:prstGeom prst="line">
            <a:avLst/>
          </a:prstGeom>
          <a:ln w="254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10702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277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1月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51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初売り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セール</a:t>
            </a:r>
          </a:p>
        </p:txBody>
      </p:sp>
      <p:sp>
        <p:nvSpPr>
          <p:cNvPr id="10" name="Oval 9"/>
          <p:cNvSpPr/>
          <p:nvPr/>
        </p:nvSpPr>
        <p:spPr>
          <a:xfrm>
            <a:off x="1650228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6802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1月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4377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広告方針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の転換</a:t>
            </a:r>
          </a:p>
        </p:txBody>
      </p:sp>
      <p:sp>
        <p:nvSpPr>
          <p:cNvPr id="13" name="Oval 12"/>
          <p:cNvSpPr/>
          <p:nvPr/>
        </p:nvSpPr>
        <p:spPr>
          <a:xfrm>
            <a:off x="2789754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6328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5月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43903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母の日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月商1億</a:t>
            </a:r>
          </a:p>
        </p:txBody>
      </p:sp>
      <p:sp>
        <p:nvSpPr>
          <p:cNvPr id="16" name="Oval 15"/>
          <p:cNvSpPr/>
          <p:nvPr/>
        </p:nvSpPr>
        <p:spPr>
          <a:xfrm>
            <a:off x="3929280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15854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5月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3429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ブランド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分割</a:t>
            </a:r>
          </a:p>
        </p:txBody>
      </p:sp>
      <p:sp>
        <p:nvSpPr>
          <p:cNvPr id="19" name="Oval 18"/>
          <p:cNvSpPr/>
          <p:nvPr/>
        </p:nvSpPr>
        <p:spPr>
          <a:xfrm>
            <a:off x="5068805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55380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7月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2954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植物アプリ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リリース</a:t>
            </a:r>
          </a:p>
        </p:txBody>
      </p:sp>
      <p:sp>
        <p:nvSpPr>
          <p:cNvPr id="22" name="Oval 21"/>
          <p:cNvSpPr/>
          <p:nvPr/>
        </p:nvSpPr>
        <p:spPr>
          <a:xfrm>
            <a:off x="6208331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94906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8月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2480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法人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コンシェルジュ</a:t>
            </a:r>
          </a:p>
        </p:txBody>
      </p:sp>
      <p:sp>
        <p:nvSpPr>
          <p:cNvPr id="25" name="Oval 24"/>
          <p:cNvSpPr/>
          <p:nvPr/>
        </p:nvSpPr>
        <p:spPr>
          <a:xfrm>
            <a:off x="7347857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34432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9月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2006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中目黒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イベント</a:t>
            </a:r>
          </a:p>
        </p:txBody>
      </p:sp>
      <p:sp>
        <p:nvSpPr>
          <p:cNvPr id="28" name="Oval 27"/>
          <p:cNvSpPr/>
          <p:nvPr/>
        </p:nvSpPr>
        <p:spPr>
          <a:xfrm>
            <a:off x="8487383" y="1840149"/>
            <a:ext cx="145915" cy="145915"/>
          </a:xfrm>
          <a:prstGeom prst="ellips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73957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9月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1532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イネイブラー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卸の再発注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53957" y="3566809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53957" y="3891064"/>
            <a:ext cx="8106383" cy="162127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ハナイチの生花は、限界利益が赤字から黒字へ。</a:t>
            </a:r>
          </a:p>
          <a:p>
            <a:pPr algn="l">
              <a:lnSpc>
                <a:spcPct val="16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中目黒のイベントには約1万人が来場、1,300件を販売。</a:t>
            </a:r>
          </a:p>
          <a:p>
            <a:pPr algn="l">
              <a:lnSpc>
                <a:spcPct val="16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イネイブラーは母の日の卸先から、昨年+50%の発注希望。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3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511" y="1945532"/>
            <a:ext cx="3242553" cy="1215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7578" b="0">
                <a:ln w="19050">
                  <a:solidFill>
                    <a:srgbClr val="FFFFFF"/>
                  </a:solidFill>
                </a:ln>
                <a:noFill/>
                <a:latin typeface="Outfit"/>
                <a:ea typeface="Outfit"/>
                <a:cs typeface="Outfit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511" y="3372255"/>
            <a:ext cx="6485106" cy="25940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 spc="600">
                <a:solidFill>
                  <a:srgbClr val="FFFFFF"/>
                </a:solidFill>
                <a:latin typeface="Outfit"/>
                <a:ea typeface="Outfit"/>
                <a:cs typeface="Outfit"/>
              </a:rPr>
              <a:t>FY9 DIRECTION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511" y="3728936"/>
            <a:ext cx="7295745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第9期に向けて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511" y="4409872"/>
            <a:ext cx="7295745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数字の目標と、なぜやるのか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第9期の数字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 実績 → 第9期 計画　※税抜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1394298"/>
            <a:ext cx="3891064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AP/AF 売上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957" y="1702340"/>
            <a:ext cx="259404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単位：億円</a:t>
            </a:r>
          </a:p>
        </p:txBody>
      </p:sp>
      <p:sp>
        <p:nvSpPr>
          <p:cNvPr id="8" name="Rectangle 7"/>
          <p:cNvSpPr/>
          <p:nvPr/>
        </p:nvSpPr>
        <p:spPr>
          <a:xfrm>
            <a:off x="972766" y="3239851"/>
            <a:ext cx="972766" cy="1299723"/>
          </a:xfrm>
          <a:prstGeom prst="rect">
            <a:avLst/>
          </a:prstGeom>
          <a:solidFill>
            <a:srgbClr val="CBD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7915" y="2948021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7.4億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6851" y="4620638"/>
            <a:ext cx="1264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 実績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99489" y="2431915"/>
            <a:ext cx="972766" cy="2107660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34638" y="2140085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12.0億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53574" y="4620638"/>
            <a:ext cx="1264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第9期 計画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3362" y="4539574"/>
            <a:ext cx="3242553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3957" y="4944894"/>
            <a:ext cx="2594043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3031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+63%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9277" y="1394298"/>
            <a:ext cx="3891064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AP/AF 広告費込み限界利益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9277" y="1702340"/>
            <a:ext cx="259404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単位：億円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88085" y="3214760"/>
            <a:ext cx="972766" cy="1324815"/>
          </a:xfrm>
          <a:prstGeom prst="rect">
            <a:avLst/>
          </a:prstGeom>
          <a:solidFill>
            <a:srgbClr val="CBD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3234" y="2922930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2.2億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2170" y="4620638"/>
            <a:ext cx="1264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 実績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14809" y="2431915"/>
            <a:ext cx="972766" cy="2107660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9957" y="2140085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3.5億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8894" y="4620638"/>
            <a:ext cx="1264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第9期 計画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928681" y="4539574"/>
            <a:ext cx="3242553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669277" y="4944894"/>
            <a:ext cx="2594043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3031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+59%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3957" y="5674468"/>
            <a:ext cx="8106383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事業計画を各チームの数字に下ろし、</a:t>
            </a:r>
            <a:r>
              <a:rPr sz="176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毎月計画との差を見て</a:t>
            </a: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動く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3957" y="6241915"/>
            <a:ext cx="7782128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884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※ AP/AFは小松資料の第9期計画。ハナイチ・イネイブラー／3PLの数値目標は事業計画で別途設定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3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511" y="1945532"/>
            <a:ext cx="3242553" cy="1215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7578" b="0">
                <a:ln w="19050">
                  <a:solidFill>
                    <a:srgbClr val="FFFFFF"/>
                  </a:solidFill>
                </a:ln>
                <a:noFill/>
                <a:latin typeface="Outfit"/>
                <a:ea typeface="Outfit"/>
                <a:cs typeface="Outfit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511" y="3372255"/>
            <a:ext cx="6485106" cy="25940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 spc="600">
                <a:solidFill>
                  <a:srgbClr val="FFFFFF"/>
                </a:solidFill>
                <a:latin typeface="Outfit"/>
                <a:ea typeface="Outfit"/>
                <a:cs typeface="Outfit"/>
              </a:rPr>
              <a:t>WHY WE DO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511" y="3728936"/>
            <a:ext cx="7295745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なぜ、僕らがこれをやるのか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511" y="4409872"/>
            <a:ext cx="7295745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ミッションと、各事業のつながり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出発点は、ミッション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1913106"/>
            <a:ext cx="7295745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263" b="0" spc="400">
                <a:solidFill>
                  <a:srgbClr val="626262"/>
                </a:solidFill>
                <a:latin typeface="Outfit"/>
                <a:ea typeface="Outfit"/>
                <a:cs typeface="Outfit"/>
              </a:rPr>
              <a:t>- OUR MISSION -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2334638"/>
            <a:ext cx="8236085" cy="1215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3284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ITとデザインで、</a:t>
            </a:r>
          </a:p>
          <a:p>
            <a:pPr algn="l">
              <a:lnSpc>
                <a:spcPct val="135000"/>
              </a:lnSpc>
            </a:pPr>
            <a:r>
              <a:rPr sz="3284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緑のある暮らし</a:t>
            </a:r>
            <a:r>
              <a:rPr sz="3284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をもっと身近に。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957" y="4215319"/>
            <a:ext cx="8106383" cy="113489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根っこにあるのは、「花や植物っていいよね」という気持ち。</a:t>
            </a:r>
          </a:p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育てる楽しさ、もらったときのうれしさを、もっと多くの人に。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今、感じている危機感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2269787"/>
            <a:ext cx="8236085" cy="129702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このままだと、花や植物を楽しむ文化が</a:t>
            </a:r>
          </a:p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小さくなってしまう</a:t>
            </a: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かもしれない。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4053191"/>
            <a:ext cx="8106383" cy="113489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生産者の減少。花をつくること、売ることの難しさ。</a:t>
            </a:r>
          </a:p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そこを、Domuzが変えていきたい。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だから、楽しむ人の「裾野」を広げる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1588851"/>
            <a:ext cx="3891064" cy="4053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147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植物なら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2107660"/>
            <a:ext cx="3891064" cy="145914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買うとき・育てるときの</a:t>
            </a:r>
          </a:p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面倒や不安を減らす。</a:t>
            </a:r>
          </a:p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気軽に育てられる土壌をつくる。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9277" y="1588851"/>
            <a:ext cx="3891064" cy="4053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147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花なら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9277" y="2107660"/>
            <a:ext cx="3891064" cy="145914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ほかの贈り物とセットで届けて、</a:t>
            </a:r>
          </a:p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普段は花を買わない人にも</a:t>
            </a:r>
          </a:p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受け取ってもらう。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3957" y="3891064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3957" y="4215319"/>
            <a:ext cx="8236085" cy="162127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214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「植物を育てるのっていいな」</a:t>
            </a:r>
          </a:p>
          <a:p>
            <a:pPr algn="l">
              <a:lnSpc>
                <a:spcPct val="145000"/>
              </a:lnSpc>
            </a:pPr>
            <a:r>
              <a:rPr sz="214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「花をもらうっていいな」</a:t>
            </a:r>
          </a:p>
          <a:p>
            <a:pPr algn="l">
              <a:lnSpc>
                <a:spcPct val="145000"/>
              </a:lnSpc>
            </a:pPr>
            <a:r>
              <a:rPr sz="214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「次は自分も</a:t>
            </a:r>
            <a:r>
              <a:rPr sz="2147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贈ってみよう</a:t>
            </a:r>
            <a:r>
              <a:rPr sz="214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957" y="5836596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そんなきっかけを、いろんなシーンにつくっていく。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産業を支えているのは、最後に楽しむ人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957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3957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種苗</a:t>
            </a:r>
          </a:p>
        </p:txBody>
      </p:sp>
      <p:sp>
        <p:nvSpPr>
          <p:cNvPr id="7" name="Isosceles Triangle 6"/>
          <p:cNvSpPr/>
          <p:nvPr/>
        </p:nvSpPr>
        <p:spPr>
          <a:xfrm rot="5400000">
            <a:off x="1475362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37489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7489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生産者</a:t>
            </a:r>
          </a:p>
        </p:txBody>
      </p:sp>
      <p:sp>
        <p:nvSpPr>
          <p:cNvPr id="10" name="Isosceles Triangle 9"/>
          <p:cNvSpPr/>
          <p:nvPr/>
        </p:nvSpPr>
        <p:spPr>
          <a:xfrm rot="5400000">
            <a:off x="2658894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821021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21021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卸</a:t>
            </a:r>
          </a:p>
        </p:txBody>
      </p:sp>
      <p:sp>
        <p:nvSpPr>
          <p:cNvPr id="13" name="Isosceles Triangle 12"/>
          <p:cNvSpPr/>
          <p:nvPr/>
        </p:nvSpPr>
        <p:spPr>
          <a:xfrm rot="5400000">
            <a:off x="3842426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004553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04553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仲卸</a:t>
            </a:r>
          </a:p>
        </p:txBody>
      </p:sp>
      <p:sp>
        <p:nvSpPr>
          <p:cNvPr id="16" name="Isosceles Triangle 15"/>
          <p:cNvSpPr/>
          <p:nvPr/>
        </p:nvSpPr>
        <p:spPr>
          <a:xfrm rot="5400000">
            <a:off x="5025957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88085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88085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流通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6209489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71617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1617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小売</a:t>
            </a:r>
          </a:p>
        </p:txBody>
      </p:sp>
      <p:sp>
        <p:nvSpPr>
          <p:cNvPr id="22" name="Isosceles Triangle 21"/>
          <p:cNvSpPr/>
          <p:nvPr/>
        </p:nvSpPr>
        <p:spPr>
          <a:xfrm rot="5400000">
            <a:off x="7393021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55149" y="1815830"/>
            <a:ext cx="1134894" cy="778213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55149" y="1815830"/>
            <a:ext cx="1134894" cy="778213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20000"/>
              </a:lnSpc>
            </a:pPr>
            <a:r>
              <a:rPr sz="1389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買って</a:t>
            </a:r>
          </a:p>
          <a:p>
            <a:pPr algn="ctr">
              <a:lnSpc>
                <a:spcPct val="120000"/>
              </a:lnSpc>
            </a:pPr>
            <a:r>
              <a:rPr sz="1389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楽しむ人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3957" y="3242553"/>
            <a:ext cx="8236085" cy="129702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最後にお金を払って、花や植物を楽しむ人が</a:t>
            </a:r>
          </a:p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いちばん大事。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3957" y="4782766"/>
            <a:ext cx="8236085" cy="81063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176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買う・贈る・もらう・育てる機会を増やすことが、</a:t>
            </a:r>
          </a:p>
          <a:p>
            <a:pPr algn="l">
              <a:lnSpc>
                <a:spcPct val="160000"/>
              </a:lnSpc>
            </a:pPr>
            <a:r>
              <a:rPr sz="176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産業全体への貢献</a:t>
            </a:r>
            <a:r>
              <a:rPr sz="176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につながる。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どの事業も、同じところにつながっている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1426723"/>
            <a:ext cx="486383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3031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617" y="1459149"/>
            <a:ext cx="7620000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95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AND PLANTS / AND FLOWER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7617" y="1880681"/>
            <a:ext cx="7620000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自分たちで花や植物を販売し、楽しむ人を増やす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3957" y="2367064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3957" y="2529191"/>
            <a:ext cx="486383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3031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617" y="2561617"/>
            <a:ext cx="7620000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95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イネイブラー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617" y="2983149"/>
            <a:ext cx="7620000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いろんな事業者の商品と花をセットで届け、買う・贈る機会を増やす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3957" y="3469532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3957" y="3631660"/>
            <a:ext cx="486383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3031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617" y="3664085"/>
            <a:ext cx="7620000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95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ハナイチ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7617" y="4085617"/>
            <a:ext cx="7620000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花を売る人・教室や撮影で使う人が、もっと仕入れやすくする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3957" y="4572000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3957" y="4944894"/>
            <a:ext cx="1929319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入口を広げる</a:t>
            </a:r>
          </a:p>
        </p:txBody>
      </p:sp>
      <p:sp>
        <p:nvSpPr>
          <p:cNvPr id="18" name="Isosceles Triangle 17"/>
          <p:cNvSpPr/>
          <p:nvPr/>
        </p:nvSpPr>
        <p:spPr>
          <a:xfrm rot="5400000">
            <a:off x="2415702" y="5042170"/>
            <a:ext cx="97277" cy="129702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61617" y="4944894"/>
            <a:ext cx="1929319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楽しむ人が増える</a:t>
            </a:r>
          </a:p>
        </p:txBody>
      </p:sp>
      <p:sp>
        <p:nvSpPr>
          <p:cNvPr id="20" name="Isosceles Triangle 19"/>
          <p:cNvSpPr/>
          <p:nvPr/>
        </p:nvSpPr>
        <p:spPr>
          <a:xfrm rot="5400000">
            <a:off x="4523362" y="5042170"/>
            <a:ext cx="97277" cy="129702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9277" y="4944894"/>
            <a:ext cx="1929319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産業が良くなる</a:t>
            </a:r>
          </a:p>
        </p:txBody>
      </p:sp>
      <p:sp>
        <p:nvSpPr>
          <p:cNvPr id="22" name="Isosceles Triangle 21"/>
          <p:cNvSpPr/>
          <p:nvPr/>
        </p:nvSpPr>
        <p:spPr>
          <a:xfrm rot="5400000">
            <a:off x="6631021" y="5042170"/>
            <a:ext cx="97277" cy="129702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76936" y="4944894"/>
            <a:ext cx="1929319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Domuzも成長する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957" y="5512340"/>
            <a:ext cx="8236085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それぞれの事業で入口を広げ、利益を出して、また次の入口をつくる。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新しい入口は、届ける現場から生まれる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イネイブラー・高付加価値3PL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1588851"/>
            <a:ext cx="8236085" cy="129702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2273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他社の贈り物と花をセットにして、</a:t>
            </a:r>
          </a:p>
          <a:p>
            <a:pPr algn="l">
              <a:lnSpc>
                <a:spcPct val="145000"/>
              </a:lnSpc>
            </a:pPr>
            <a:r>
              <a:rPr sz="2273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きれいに、確実に届けられること。</a:t>
            </a:r>
          </a:p>
          <a:p>
            <a:pPr algn="l">
              <a:lnSpc>
                <a:spcPct val="145000"/>
              </a:lnSpc>
            </a:pPr>
            <a:r>
              <a:rPr sz="2273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それ自体が、</a:t>
            </a:r>
            <a:r>
              <a:rPr sz="2273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Domuzにしかない強み</a:t>
            </a:r>
            <a:r>
              <a:rPr sz="2273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3957" y="3242553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3957" y="3437106"/>
            <a:ext cx="4863830" cy="25940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第9期に動き出すもの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957" y="3793787"/>
            <a:ext cx="97276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10月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1574" y="3793787"/>
            <a:ext cx="7198468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生花イネイブラー 2件スタート予定（PAPABUBBLE／フレッシュロースター）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957" y="4182894"/>
            <a:ext cx="97276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10月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1574" y="4182894"/>
            <a:ext cx="7198468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HAKUBA CRAFT：クラフトビールを冷蔵保管し、生花とセットで発送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957" y="4572000"/>
            <a:ext cx="97276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母の日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1574" y="4572000"/>
            <a:ext cx="7198468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卸モデルの導入先から追加発注（昨年+50%の希望も）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957" y="4961106"/>
            <a:ext cx="97276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進行中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1574" y="4961106"/>
            <a:ext cx="7198468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カインズ・ハンズとの連携、ギフティとの共同提案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957" y="5544766"/>
            <a:ext cx="8236085" cy="48638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案件が増えるほど、手が慣れるほど、利益は大きくなる。</a:t>
            </a:r>
            <a:r>
              <a:rPr sz="157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川崎の一箱一箱が、次の入口</a:t>
            </a: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になる。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5年後、10年後に言われたいこと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2107660"/>
            <a:ext cx="8236085" cy="1945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「Domuzというチームがいたから、</a:t>
            </a:r>
          </a:p>
          <a:p>
            <a:pPr algn="l">
              <a:lnSpc>
                <a:spcPct val="150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花や植物を楽しむ文化が</a:t>
            </a:r>
            <a:r>
              <a:rPr sz="277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広がった</a:t>
            </a: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よね」</a:t>
            </a:r>
          </a:p>
          <a:p>
            <a:pPr algn="l">
              <a:lnSpc>
                <a:spcPct val="150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「贈り物の価値が、もっと</a:t>
            </a:r>
            <a:r>
              <a:rPr sz="277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高まった</a:t>
            </a: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よね」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4701702"/>
            <a:ext cx="8106383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そう言われる会社にしたい。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最後に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2026596"/>
            <a:ext cx="8236085" cy="1945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65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花や植物を楽しむ人と機会を増やすことが、</a:t>
            </a:r>
          </a:p>
          <a:p>
            <a:pPr algn="l">
              <a:lnSpc>
                <a:spcPct val="150000"/>
              </a:lnSpc>
            </a:pPr>
            <a:r>
              <a:rPr sz="2652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産業の未来</a:t>
            </a:r>
            <a:r>
              <a:rPr sz="265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にも、</a:t>
            </a:r>
            <a:r>
              <a:rPr sz="2652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Domuzの成長</a:t>
            </a:r>
            <a:r>
              <a:rPr sz="265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にもつながる。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3810000"/>
            <a:ext cx="8106383" cy="97276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事業は違っても、向かっている先は同じ。</a:t>
            </a:r>
          </a:p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一人ひとりの仕事が、誰かの「花っていいな」の入口になっている。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957" y="5188085"/>
            <a:ext cx="8236085" cy="48638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526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第9期も、みんなで</a:t>
            </a:r>
            <a:r>
              <a:rPr sz="2526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楽しみながら</a:t>
            </a:r>
            <a:r>
              <a:rPr sz="2526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やり切ろう。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
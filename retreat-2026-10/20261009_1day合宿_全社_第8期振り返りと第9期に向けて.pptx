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8213" y="2172511"/>
            <a:ext cx="7295745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136" b="0" spc="500">
                <a:solidFill>
                  <a:srgbClr val="004347"/>
                </a:solidFill>
                <a:latin typeface="Outfit"/>
                <a:ea typeface="Outfit"/>
                <a:cs typeface="Outfit"/>
              </a:rPr>
              <a:t>1DAY OFFSITE  2026.10.09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213" y="2626468"/>
            <a:ext cx="7782128" cy="113489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27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Domuz 全社</a:t>
            </a:r>
          </a:p>
          <a:p>
            <a:pPr algn="l">
              <a:lnSpc>
                <a:spcPct val="135000"/>
              </a:lnSpc>
            </a:pPr>
            <a:r>
              <a:rPr sz="27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第8期の振り返りと、第9期に向けて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213" y="4053191"/>
            <a:ext cx="518809" cy="32426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8213" y="4377447"/>
            <a:ext cx="4863830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263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株式会社Domuz　髙木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今日の合宿の目的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8213" y="1913106"/>
            <a:ext cx="648511" cy="6485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4042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1277" y="2010383"/>
            <a:ext cx="6485106" cy="51880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905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目線を上げる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8213" y="2853447"/>
            <a:ext cx="7587574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78213" y="3112851"/>
            <a:ext cx="648511" cy="6485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4042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1277" y="3210128"/>
            <a:ext cx="6485106" cy="51880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905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チーム感を高める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8213" y="4053191"/>
            <a:ext cx="7587574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78213" y="4312596"/>
            <a:ext cx="648511" cy="6485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4042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1277" y="4409872"/>
            <a:ext cx="6485106" cy="51880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905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今後の方針のシェア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3957" y="2618362"/>
            <a:ext cx="8236085" cy="162127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4042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目線を上げる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3957" y="2618362"/>
            <a:ext cx="8236085" cy="162127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4042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チーム感を高める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3957" y="2618362"/>
            <a:ext cx="8236085" cy="162127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4042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今後の方針のシェア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今日の合宿の目的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8213" y="1913106"/>
            <a:ext cx="648511" cy="6485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4042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1277" y="2010383"/>
            <a:ext cx="6485106" cy="51880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905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目線を上げる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8213" y="2853447"/>
            <a:ext cx="7587574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78213" y="3112851"/>
            <a:ext cx="648511" cy="6485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4042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1277" y="3210128"/>
            <a:ext cx="6485106" cy="51880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905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チーム感を高める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8213" y="4053191"/>
            <a:ext cx="7587574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78213" y="4312596"/>
            <a:ext cx="648511" cy="6485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4042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1277" y="4409872"/>
            <a:ext cx="6485106" cy="51880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905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今後の方針のシェア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511" y="2431915"/>
            <a:ext cx="7846979" cy="162127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4042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rPr>
              <a:t>第8期、大変お疲れ様でした！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511" y="1945532"/>
            <a:ext cx="3242553" cy="1215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578" b="0">
                <a:ln w="19050">
                  <a:solidFill>
                    <a:srgbClr val="FFFFFF"/>
                  </a:solidFill>
                </a:ln>
                <a:noFill/>
                <a:latin typeface="Outfit"/>
                <a:ea typeface="Outfit"/>
                <a:cs typeface="Outfit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511" y="3372255"/>
            <a:ext cx="6485106" cy="2594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 spc="60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FY8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511" y="3728936"/>
            <a:ext cx="7295745" cy="51880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905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rPr>
              <a:t>第8期の振り返り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511" y="4409872"/>
            <a:ext cx="7295745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rPr>
              <a:t>数字と、起きたこと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全社の数字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3957" y="843064"/>
            <a:ext cx="8106383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第8期（2025年10月〜2026年9月）　※税抜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957" y="1588851"/>
            <a:ext cx="2756170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売上高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957" y="1848255"/>
            <a:ext cx="2756170" cy="6809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45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8.34</a:t>
            </a: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億円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957" y="2966936"/>
            <a:ext cx="2756170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売上総利益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957" y="3226340"/>
            <a:ext cx="2756170" cy="6809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45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5.02</a:t>
            </a: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億円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957" y="4345021"/>
            <a:ext cx="2756170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粗利率 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1957" y="1361872"/>
            <a:ext cx="324255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10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月次売上　単位：百万円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1957" y="3443504"/>
            <a:ext cx="324255" cy="1420326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0894" y="3216526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0894" y="4928681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10月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9702" y="3429109"/>
            <a:ext cx="324255" cy="1434721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638" y="3202130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638" y="4928681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11月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7447" y="3429109"/>
            <a:ext cx="324255" cy="1434721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6383" y="3202130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6383" y="4928681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12月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15191" y="2961265"/>
            <a:ext cx="324255" cy="1902564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4128" y="2734287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4128" y="4928681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1月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2936" y="3549069"/>
            <a:ext cx="324255" cy="1314761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71872" y="3322090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1872" y="4928681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2月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90681" y="3244371"/>
            <a:ext cx="324255" cy="1619459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09617" y="3017392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9617" y="4928681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3月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8426" y="2503018"/>
            <a:ext cx="324255" cy="2360811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47362" y="2276040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47362" y="4928681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4月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66170" y="2188723"/>
            <a:ext cx="324255" cy="2675106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5106" y="1961745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112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5106" y="4928681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5月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03915" y="3376327"/>
            <a:ext cx="324255" cy="1487503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22851" y="3149348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62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22851" y="4928681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6月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41660" y="3385923"/>
            <a:ext cx="324255" cy="1477906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596" y="3158945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62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596" y="4928681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7月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79404" y="3455500"/>
            <a:ext cx="324255" cy="1408330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98340" y="3228522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59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98340" y="4928681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8月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17149" y="3287556"/>
            <a:ext cx="324255" cy="1576273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36085" y="3060578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66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36085" y="4928681"/>
            <a:ext cx="48638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9月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437106" y="4863830"/>
            <a:ext cx="5252937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453957" y="5512340"/>
            <a:ext cx="8236085" cy="35668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5月に、創業以来はじめて</a:t>
            </a:r>
            <a:r>
              <a:rPr sz="1768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月商1億円</a:t>
            </a: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を超えた。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3957" y="6241915"/>
            <a:ext cx="7782128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884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※ 試算表（2026/10/8時点）の暫定値・決算整理前。9月は棚卸未反映。売上高は決算整理▲404万円を含む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サービス開始からの推移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3957" y="843064"/>
            <a:ext cx="8106383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四半期の売上（事業別）　単位：百万円　※税抜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0511" y="1297021"/>
            <a:ext cx="129702" cy="129702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5064" y="1248383"/>
            <a:ext cx="1297021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10" b="0">
                <a:solidFill>
                  <a:srgbClr val="626262"/>
                </a:solidFill>
                <a:latin typeface="Outfit"/>
                <a:ea typeface="Outfit"/>
                <a:cs typeface="Outfit"/>
              </a:rPr>
              <a:t>AND PLANTS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6468" y="1297021"/>
            <a:ext cx="129702" cy="129702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21021" y="1248383"/>
            <a:ext cx="1297021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10" b="0">
                <a:solidFill>
                  <a:srgbClr val="626262"/>
                </a:solidFill>
                <a:latin typeface="Outfit"/>
                <a:ea typeface="Outfit"/>
                <a:cs typeface="Outfit"/>
              </a:rPr>
              <a:t>AND FLOWER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2426" y="1297021"/>
            <a:ext cx="129702" cy="129702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36979" y="1248383"/>
            <a:ext cx="1297021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10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ハナイチ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0511" y="4921579"/>
            <a:ext cx="194553" cy="23314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9447" y="4710813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02340" y="4853664"/>
            <a:ext cx="194553" cy="91229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1277" y="4642898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94170" y="4766490"/>
            <a:ext cx="194553" cy="178404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94170" y="4763449"/>
            <a:ext cx="194553" cy="3041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3106" y="4552683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4713779"/>
            <a:ext cx="194553" cy="231114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4691479"/>
            <a:ext cx="194553" cy="22301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04936" y="4480713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7830" y="4690465"/>
            <a:ext cx="194553" cy="254428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7830" y="4618495"/>
            <a:ext cx="194553" cy="71970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6766" y="4407729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69660" y="4659042"/>
            <a:ext cx="194553" cy="285852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69660" y="4630659"/>
            <a:ext cx="194553" cy="28382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596" y="4419893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31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61489" y="4617482"/>
            <a:ext cx="194553" cy="327412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61489" y="4575922"/>
            <a:ext cx="194553" cy="41560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80426" y="4365156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36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3319" y="4524225"/>
            <a:ext cx="194553" cy="420669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53319" y="4462392"/>
            <a:ext cx="194553" cy="61833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72255" y="4251626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5149" y="4356971"/>
            <a:ext cx="194553" cy="587922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45149" y="4185663"/>
            <a:ext cx="194553" cy="171308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64085" y="3974897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75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36979" y="4312370"/>
            <a:ext cx="194553" cy="632523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6979" y="4229250"/>
            <a:ext cx="194553" cy="83120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55915" y="4018484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8809" y="4286015"/>
            <a:ext cx="194553" cy="658879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8809" y="4176540"/>
            <a:ext cx="194553" cy="109475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47745" y="3965774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76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20638" y="4026518"/>
            <a:ext cx="194553" cy="918375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20638" y="3822773"/>
            <a:ext cx="194553" cy="203746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20638" y="3816691"/>
            <a:ext cx="194553" cy="6082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39574" y="3605925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111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12468" y="3751817"/>
            <a:ext cx="194553" cy="1193077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12468" y="3331148"/>
            <a:ext cx="194553" cy="420669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12468" y="3289588"/>
            <a:ext cx="194553" cy="41560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31404" y="3078822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163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04298" y="3732557"/>
            <a:ext cx="194553" cy="1212337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04298" y="3457855"/>
            <a:ext cx="194553" cy="274702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04298" y="3383858"/>
            <a:ext cx="194553" cy="73997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23234" y="3173092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154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96128" y="3829868"/>
            <a:ext cx="194553" cy="1115025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96128" y="3494347"/>
            <a:ext cx="194553" cy="335521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96128" y="3464951"/>
            <a:ext cx="194553" cy="29396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15064" y="3254185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146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87957" y="3470019"/>
            <a:ext cx="194553" cy="1474874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87957" y="3100034"/>
            <a:ext cx="194553" cy="369986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87957" y="3042255"/>
            <a:ext cx="194553" cy="57779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06894" y="2831489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188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9787" y="3211536"/>
            <a:ext cx="194553" cy="1733358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79787" y="2640846"/>
            <a:ext cx="194553" cy="570690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79787" y="2531371"/>
            <a:ext cx="194553" cy="109475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98723" y="2320605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238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71617" y="3645382"/>
            <a:ext cx="194553" cy="1299511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71617" y="3283506"/>
            <a:ext cx="194553" cy="361876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1617" y="3172003"/>
            <a:ext cx="194553" cy="111503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90553" y="2961237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175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63447" y="3660233"/>
            <a:ext cx="194553" cy="1284661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63447" y="3213536"/>
            <a:ext cx="194553" cy="446697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63447" y="3133109"/>
            <a:ext cx="194553" cy="80427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2383" y="2922343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179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55277" y="3410499"/>
            <a:ext cx="194553" cy="1534395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55277" y="3007625"/>
            <a:ext cx="194553" cy="402874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55277" y="2900120"/>
            <a:ext cx="194553" cy="107505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74213" y="2689354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202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47106" y="3066679"/>
            <a:ext cx="194553" cy="1878214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47106" y="2340509"/>
            <a:ext cx="194553" cy="726170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47106" y="2188723"/>
            <a:ext cx="194553" cy="151786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66043" y="1977957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272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38936" y="3557815"/>
            <a:ext cx="194553" cy="1387078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38936" y="3265023"/>
            <a:ext cx="194553" cy="292793"/>
          </a:xfrm>
          <a:prstGeom prst="rect">
            <a:avLst/>
          </a:prstGeom>
          <a:solidFill>
            <a:srgbClr val="EF66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38936" y="3099669"/>
            <a:ext cx="194553" cy="165354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57872" y="2888903"/>
            <a:ext cx="356681" cy="1783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94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182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345660" y="4944894"/>
            <a:ext cx="6436468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88" name="TextBox 87"/>
          <p:cNvSpPr txBox="1"/>
          <p:nvPr/>
        </p:nvSpPr>
        <p:spPr>
          <a:xfrm>
            <a:off x="1353766" y="5042170"/>
            <a:ext cx="583660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第3期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937426" y="4977319"/>
            <a:ext cx="0" cy="291830"/>
          </a:xfrm>
          <a:prstGeom prst="line">
            <a:avLst/>
          </a:prstGeom>
          <a:ln>
            <a:solidFill>
              <a:srgbClr val="C9CFCF"/>
            </a:solidFill>
          </a:ln>
        </p:spPr>
      </p:cxnSp>
      <p:sp>
        <p:nvSpPr>
          <p:cNvPr id="90" name="TextBox 89"/>
          <p:cNvSpPr txBox="1"/>
          <p:nvPr/>
        </p:nvSpPr>
        <p:spPr>
          <a:xfrm>
            <a:off x="1937426" y="5042170"/>
            <a:ext cx="1167319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第4期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104745" y="4977319"/>
            <a:ext cx="0" cy="291830"/>
          </a:xfrm>
          <a:prstGeom prst="line">
            <a:avLst/>
          </a:prstGeom>
          <a:ln>
            <a:solidFill>
              <a:srgbClr val="C9CFCF"/>
            </a:solidFill>
          </a:ln>
        </p:spPr>
      </p:cxnSp>
      <p:sp>
        <p:nvSpPr>
          <p:cNvPr id="92" name="TextBox 91"/>
          <p:cNvSpPr txBox="1"/>
          <p:nvPr/>
        </p:nvSpPr>
        <p:spPr>
          <a:xfrm>
            <a:off x="3104745" y="5042170"/>
            <a:ext cx="1167319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第5期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4272064" y="4977319"/>
            <a:ext cx="0" cy="291830"/>
          </a:xfrm>
          <a:prstGeom prst="line">
            <a:avLst/>
          </a:prstGeom>
          <a:ln>
            <a:solidFill>
              <a:srgbClr val="C9CFCF"/>
            </a:solidFill>
          </a:ln>
        </p:spPr>
      </p:cxnSp>
      <p:sp>
        <p:nvSpPr>
          <p:cNvPr id="94" name="TextBox 93"/>
          <p:cNvSpPr txBox="1"/>
          <p:nvPr/>
        </p:nvSpPr>
        <p:spPr>
          <a:xfrm>
            <a:off x="4272064" y="5042170"/>
            <a:ext cx="1167319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第6期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5439383" y="4977319"/>
            <a:ext cx="0" cy="291830"/>
          </a:xfrm>
          <a:prstGeom prst="line">
            <a:avLst/>
          </a:prstGeom>
          <a:ln>
            <a:solidFill>
              <a:srgbClr val="C9CFCF"/>
            </a:solidFill>
          </a:ln>
        </p:spPr>
      </p:cxnSp>
      <p:sp>
        <p:nvSpPr>
          <p:cNvPr id="96" name="TextBox 95"/>
          <p:cNvSpPr txBox="1"/>
          <p:nvPr/>
        </p:nvSpPr>
        <p:spPr>
          <a:xfrm>
            <a:off x="5439383" y="5042170"/>
            <a:ext cx="1167319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第7期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606702" y="4977319"/>
            <a:ext cx="0" cy="291830"/>
          </a:xfrm>
          <a:prstGeom prst="line">
            <a:avLst/>
          </a:prstGeom>
          <a:ln>
            <a:solidFill>
              <a:srgbClr val="C9CFCF"/>
            </a:solidFill>
          </a:ln>
        </p:spPr>
      </p:cxnSp>
      <p:sp>
        <p:nvSpPr>
          <p:cNvPr id="98" name="TextBox 97"/>
          <p:cNvSpPr txBox="1"/>
          <p:nvPr/>
        </p:nvSpPr>
        <p:spPr>
          <a:xfrm>
            <a:off x="6606702" y="5042170"/>
            <a:ext cx="1167319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第8期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3957" y="5512340"/>
            <a:ext cx="8236085" cy="35668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リリースから5年で、</a:t>
            </a:r>
            <a:r>
              <a:rPr sz="1768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四半期2.7億円</a:t>
            </a: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の規模になった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3957" y="6241915"/>
            <a:ext cx="7782128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884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※ 第3〜7期は事業別の集計（注文日ベース・税抜）。第8期は試算表の売上高を事業別の比率で按分（イネイブラー等を含む）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事業別の数字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3957" y="843064"/>
            <a:ext cx="8106383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第7期 → 第8期（前年比）　※税抜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957" y="1394298"/>
            <a:ext cx="2788596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AND PLANTS / AND FLOWER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957" y="1653702"/>
            <a:ext cx="2788596" cy="32425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売上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957" y="2026596"/>
            <a:ext cx="2788596" cy="5836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3536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+2%</a:t>
            </a:r>
          </a:p>
        </p:txBody>
      </p:sp>
      <p:sp>
        <p:nvSpPr>
          <p:cNvPr id="9" name="Rectangle 8"/>
          <p:cNvSpPr/>
          <p:nvPr/>
        </p:nvSpPr>
        <p:spPr>
          <a:xfrm>
            <a:off x="843064" y="3290753"/>
            <a:ext cx="778213" cy="1735204"/>
          </a:xfrm>
          <a:prstGeom prst="rect">
            <a:avLst/>
          </a:prstGeom>
          <a:solidFill>
            <a:srgbClr val="CBD0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0936" y="2998924"/>
            <a:ext cx="1102468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389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7.2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936" y="5107021"/>
            <a:ext cx="1102468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第7期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5532" y="3242553"/>
            <a:ext cx="778213" cy="1783404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404" y="2950723"/>
            <a:ext cx="1102468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389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7.4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404" y="5107021"/>
            <a:ext cx="1102468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第8期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8511" y="5025957"/>
            <a:ext cx="2399489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453957" y="2691319"/>
            <a:ext cx="2788596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10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単位：億円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2255" y="1394298"/>
            <a:ext cx="2788596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AND PLANTS / AND FLOWER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2255" y="1653702"/>
            <a:ext cx="2788596" cy="32425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広告費込み限界利益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2255" y="2026596"/>
            <a:ext cx="2788596" cy="5836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3536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+47%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61362" y="3810000"/>
            <a:ext cx="778213" cy="1215957"/>
          </a:xfrm>
          <a:prstGeom prst="rect">
            <a:avLst/>
          </a:prstGeom>
          <a:solidFill>
            <a:srgbClr val="CBD0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9234" y="3518170"/>
            <a:ext cx="1102468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389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1.5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9234" y="5107021"/>
            <a:ext cx="1102468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第7期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3830" y="3242553"/>
            <a:ext cx="778213" cy="1783404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1702" y="2950723"/>
            <a:ext cx="1102468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389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2.2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1702" y="5107021"/>
            <a:ext cx="1102468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第8期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66809" y="5025957"/>
            <a:ext cx="2399489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3372255" y="2691319"/>
            <a:ext cx="2788596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10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単位：億円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0553" y="1394298"/>
            <a:ext cx="2788596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ハナイチ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0553" y="1653702"/>
            <a:ext cx="2788596" cy="32425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売上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0553" y="2026596"/>
            <a:ext cx="2788596" cy="5836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3536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+22%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9660" y="3561030"/>
            <a:ext cx="778213" cy="1464928"/>
          </a:xfrm>
          <a:prstGeom prst="rect">
            <a:avLst/>
          </a:prstGeom>
          <a:solidFill>
            <a:srgbClr val="CBD0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7532" y="3269200"/>
            <a:ext cx="1102468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389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4,540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7532" y="5107021"/>
            <a:ext cx="1102468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第7期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82128" y="3242553"/>
            <a:ext cx="778213" cy="1783404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00" y="2950723"/>
            <a:ext cx="1102468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389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5,527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0" y="5107021"/>
            <a:ext cx="1102468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136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第8期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85106" y="5025957"/>
            <a:ext cx="2399490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290553" y="2691319"/>
            <a:ext cx="2788596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10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単位：万円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957" y="5593404"/>
            <a:ext cx="8106383" cy="35668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広告を絞っても売上は落とさず、</a:t>
            </a:r>
            <a:r>
              <a:rPr sz="1768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利益が大きく残る形</a:t>
            </a: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に変わった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957" y="6241915"/>
            <a:ext cx="7782128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884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※ AP/AFは自社EC＋モール、税抜（小松資料）。ハナイチは税抜・植木鉢＋生花ほか（比須田資料）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第8期に変わったこと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3957" y="2431915"/>
            <a:ext cx="8106383" cy="129702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2905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判断の基準が、</a:t>
            </a:r>
          </a:p>
          <a:p>
            <a:pPr algn="l">
              <a:lnSpc>
                <a:spcPct val="140000"/>
              </a:lnSpc>
            </a:pPr>
            <a:r>
              <a:rPr sz="2905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「売れるか」から「</a:t>
            </a:r>
            <a:r>
              <a:rPr sz="2905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利益が残るか</a:t>
            </a:r>
            <a:r>
              <a:rPr sz="2905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」に変わった。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957" y="4215319"/>
            <a:ext cx="8106383" cy="97276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</a:pPr>
            <a:r>
              <a:rPr sz="1578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AP/AFは広告費を約3割削り、利益を1.5倍に。</a:t>
            </a:r>
          </a:p>
          <a:p>
            <a:pPr algn="l">
              <a:lnSpc>
                <a:spcPct val="160000"/>
              </a:lnSpc>
            </a:pPr>
            <a:r>
              <a:rPr sz="1578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ハナイチは広告を減らしながら、注文数を2.3倍に。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第8期にやったこと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3957" y="843064"/>
            <a:ext cx="8106383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2025年10月〜2026年9月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957" y="1426723"/>
            <a:ext cx="453957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147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766" y="1475362"/>
            <a:ext cx="3566809" cy="38910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花アプリ公開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3957" y="2042809"/>
            <a:ext cx="3891064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53957" y="2204936"/>
            <a:ext cx="453957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147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766" y="2253574"/>
            <a:ext cx="3566809" cy="38910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三和との委託発送開始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3957" y="2821021"/>
            <a:ext cx="3891064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53957" y="2983149"/>
            <a:ext cx="453957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147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766" y="3031787"/>
            <a:ext cx="3566809" cy="38910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観葉イネイブラー始動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3957" y="3599234"/>
            <a:ext cx="3891064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453957" y="3761362"/>
            <a:ext cx="453957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147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766" y="3810000"/>
            <a:ext cx="3566809" cy="38910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花イネイブラー始動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957" y="4377447"/>
            <a:ext cx="3891064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453957" y="4539574"/>
            <a:ext cx="453957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147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766" y="4588213"/>
            <a:ext cx="3566809" cy="38910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AND FLOWER独立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3957" y="5155660"/>
            <a:ext cx="3891064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453957" y="5317787"/>
            <a:ext cx="453957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147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766" y="5366426"/>
            <a:ext cx="3566809" cy="38910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植物ケアアプリ公開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3957" y="5933872"/>
            <a:ext cx="3891064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4669277" y="1426723"/>
            <a:ext cx="453957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147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8085" y="1475362"/>
            <a:ext cx="3566809" cy="38910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マルシェ開催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69277" y="2042809"/>
            <a:ext cx="3891063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4669277" y="2204936"/>
            <a:ext cx="453957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147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8085" y="2253574"/>
            <a:ext cx="3566809" cy="38910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全社AI活用・MCP整備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69277" y="2821021"/>
            <a:ext cx="3891063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4669277" y="2983149"/>
            <a:ext cx="453957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147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8085" y="3031787"/>
            <a:ext cx="3566809" cy="38910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みずほ銀行の融資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69277" y="3599234"/>
            <a:ext cx="3891063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4669277" y="3761362"/>
            <a:ext cx="453957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147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8085" y="3810000"/>
            <a:ext cx="3566809" cy="38910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新城の解散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669277" y="4377447"/>
            <a:ext cx="3891063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4669277" y="4539574"/>
            <a:ext cx="453957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147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8085" y="4588213"/>
            <a:ext cx="3566809" cy="38910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ハナイチの各種施策進行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669277" y="5155660"/>
            <a:ext cx="3891063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花アプリ公開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  <a:ln w="19050">
            <a:solidFill>
              <a:srgbClr val="C9CF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写真（届き次第差し替え）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三和との委託発送開始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  <a:ln w="19050">
            <a:solidFill>
              <a:srgbClr val="C9CF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写真（届き次第差し替え）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観葉イネイブラー始動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3957" y="843064"/>
            <a:ext cx="8106383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KANADEMONOなど外部ブランドとの連携拡大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  <a:ln w="19050">
            <a:solidFill>
              <a:srgbClr val="C9CF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写真（届き次第差し替え）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花イネイブラー始動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3957" y="843064"/>
            <a:ext cx="8106383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Mr. CHEESECAKE、UCC様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  <a:ln w="19050">
            <a:solidFill>
              <a:srgbClr val="C9CF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写真（届き次第差し替え）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AND FLOWER独立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  <a:ln w="19050">
            <a:solidFill>
              <a:srgbClr val="C9CF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写真（届き次第差し替え）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植物ケアアプリ公開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  <a:ln w="19050">
            <a:solidFill>
              <a:srgbClr val="C9CF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写真（届き次第差し替え）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マルシェ開催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  <a:ln w="19050">
            <a:solidFill>
              <a:srgbClr val="C9CF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写真（届き次第差し替え）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全社AI活用・MCP整備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  <a:ln w="19050">
            <a:solidFill>
              <a:srgbClr val="C9CF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写真（届き次第差し替え）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みずほ銀行の融資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  <a:ln w="19050">
            <a:solidFill>
              <a:srgbClr val="C9CF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写真（届き次第差し替え）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新城の解散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  <a:ln w="19050">
            <a:solidFill>
              <a:srgbClr val="C9CF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写真（届き次第差し替え）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ハナイチの各種施策進行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  <a:ln w="19050">
            <a:solidFill>
              <a:srgbClr val="C9CF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957" y="1297021"/>
            <a:ext cx="8236085" cy="50259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写真（届き次第差し替え）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511" y="1945532"/>
            <a:ext cx="3242553" cy="1215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578" b="0">
                <a:ln w="19050">
                  <a:solidFill>
                    <a:srgbClr val="FFFFFF"/>
                  </a:solidFill>
                </a:ln>
                <a:noFill/>
                <a:latin typeface="Outfit"/>
                <a:ea typeface="Outfit"/>
                <a:cs typeface="Outfit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511" y="3372255"/>
            <a:ext cx="6485106" cy="2594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 spc="60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FY9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511" y="3728936"/>
            <a:ext cx="7295745" cy="51880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905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rPr>
              <a:t>第9期に向けて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511" y="4409872"/>
            <a:ext cx="7295745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rPr>
              <a:t>数字の目標と、なぜやるのか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第9期の数字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3957" y="843064"/>
            <a:ext cx="8106383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第8期 実績 → 第9期 計画　※税抜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957" y="1394298"/>
            <a:ext cx="3891064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AP/AF 売上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957" y="1702340"/>
            <a:ext cx="259404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10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単位：億円</a:t>
            </a:r>
          </a:p>
        </p:txBody>
      </p:sp>
      <p:sp>
        <p:nvSpPr>
          <p:cNvPr id="8" name="Rectangle 7"/>
          <p:cNvSpPr/>
          <p:nvPr/>
        </p:nvSpPr>
        <p:spPr>
          <a:xfrm>
            <a:off x="972766" y="3239851"/>
            <a:ext cx="972766" cy="1299723"/>
          </a:xfrm>
          <a:prstGeom prst="rect">
            <a:avLst/>
          </a:prstGeom>
          <a:solidFill>
            <a:srgbClr val="CBD0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7915" y="2948021"/>
            <a:ext cx="1102468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389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7.4億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851" y="4620638"/>
            <a:ext cx="1264596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010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第8期 実績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9489" y="2431915"/>
            <a:ext cx="972766" cy="2107660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4638" y="2140085"/>
            <a:ext cx="1102468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389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12.0億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3574" y="4620638"/>
            <a:ext cx="1264596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010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第9期 計画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362" y="4539574"/>
            <a:ext cx="3242553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453957" y="4944894"/>
            <a:ext cx="2594043" cy="56744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3031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+63%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9277" y="1394298"/>
            <a:ext cx="3891064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AP/AF 広告費込み限界利益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277" y="1702340"/>
            <a:ext cx="2594043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010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単位：億円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88085" y="3214760"/>
            <a:ext cx="972766" cy="1324815"/>
          </a:xfrm>
          <a:prstGeom prst="rect">
            <a:avLst/>
          </a:prstGeom>
          <a:solidFill>
            <a:srgbClr val="CBD0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3234" y="2922930"/>
            <a:ext cx="1102468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389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2.2億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2170" y="4620638"/>
            <a:ext cx="1264596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010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第8期 実績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14809" y="2431915"/>
            <a:ext cx="972766" cy="2107660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9957" y="2140085"/>
            <a:ext cx="1102468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389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3.5億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8894" y="4620638"/>
            <a:ext cx="1264596" cy="2269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010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第9期 計画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28681" y="4539574"/>
            <a:ext cx="3242553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4669277" y="4944894"/>
            <a:ext cx="2594043" cy="56744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3031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+59%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957" y="5674468"/>
            <a:ext cx="8106383" cy="32425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事業計画を各チームの数字に下ろし、</a:t>
            </a:r>
            <a:r>
              <a:rPr sz="1768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毎月計画との差を見て</a:t>
            </a:r>
            <a:r>
              <a:rPr sz="176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動く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957" y="6241915"/>
            <a:ext cx="7782128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884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※ AP/AFは小松資料の第9期計画。ハナイチ・イネイブラー／3PLの数値目標は事業計画で別途設定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511" y="1945532"/>
            <a:ext cx="3242553" cy="1215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7578" b="0">
                <a:ln w="19050">
                  <a:solidFill>
                    <a:srgbClr val="FFFFFF"/>
                  </a:solidFill>
                </a:ln>
                <a:noFill/>
                <a:latin typeface="Outfit"/>
                <a:ea typeface="Outfit"/>
                <a:cs typeface="Outfit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511" y="3372255"/>
            <a:ext cx="6485106" cy="2594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 spc="60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WHY WE DO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511" y="3728936"/>
            <a:ext cx="7295745" cy="51880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905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rPr>
              <a:t>なぜ、僕らがこれをやるのか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511" y="4409872"/>
            <a:ext cx="7295745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rPr>
              <a:t>ミッションと、各事業のつながり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出発点は、ミッション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3957" y="1913106"/>
            <a:ext cx="7295745" cy="2431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263" b="0" spc="400">
                <a:solidFill>
                  <a:srgbClr val="626262"/>
                </a:solidFill>
                <a:latin typeface="Outfit"/>
                <a:ea typeface="Outfit"/>
                <a:cs typeface="Outfit"/>
              </a:rPr>
              <a:t>- OUR MISSION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957" y="2334638"/>
            <a:ext cx="8236085" cy="1215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3284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ITとデザインで、</a:t>
            </a:r>
          </a:p>
          <a:p>
            <a:pPr algn="l">
              <a:lnSpc>
                <a:spcPct val="135000"/>
              </a:lnSpc>
            </a:pPr>
            <a:r>
              <a:rPr sz="3284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みどりのある暮らし</a:t>
            </a:r>
            <a:r>
              <a:rPr sz="3284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をもっと身近に。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957" y="4215319"/>
            <a:ext cx="8106383" cy="113489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70000"/>
              </a:lnSpc>
            </a:pPr>
            <a:r>
              <a:rPr sz="1578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根っこにあるのは、「花や植物っていいよね」という気持ち。</a:t>
            </a:r>
          </a:p>
          <a:p>
            <a:pPr algn="l">
              <a:lnSpc>
                <a:spcPct val="170000"/>
              </a:lnSpc>
            </a:pPr>
            <a:r>
              <a:rPr sz="1578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育てる楽しさ、もらったときのうれしさを、もっと多くの人に。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今、感じている危機感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3957" y="2269787"/>
            <a:ext cx="8236085" cy="129702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2905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このままだと、花や植物を楽しむ文化が</a:t>
            </a:r>
          </a:p>
          <a:p>
            <a:pPr algn="l">
              <a:lnSpc>
                <a:spcPct val="140000"/>
              </a:lnSpc>
            </a:pPr>
            <a:r>
              <a:rPr sz="2905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小さくなってしまう</a:t>
            </a:r>
            <a:r>
              <a:rPr sz="2905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かもしれない。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957" y="4053191"/>
            <a:ext cx="8106383" cy="113489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70000"/>
              </a:lnSpc>
            </a:pPr>
            <a:r>
              <a:rPr sz="1578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生産者の減少。花をつくること、売ることの難しさ。</a:t>
            </a:r>
          </a:p>
          <a:p>
            <a:pPr algn="l">
              <a:lnSpc>
                <a:spcPct val="170000"/>
              </a:lnSpc>
            </a:pPr>
            <a:r>
              <a:rPr sz="1578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そこを、Domuzが変えていきたい。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だから、楽しむ人の「裾野」を広げる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3957" y="1588851"/>
            <a:ext cx="3891064" cy="4053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147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植物なら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957" y="2107660"/>
            <a:ext cx="3891064" cy="145914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</a:pPr>
            <a:r>
              <a:rPr sz="1705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買うとき・育てるときの</a:t>
            </a:r>
          </a:p>
          <a:p>
            <a:pPr algn="l">
              <a:lnSpc>
                <a:spcPct val="160000"/>
              </a:lnSpc>
            </a:pPr>
            <a:r>
              <a:rPr sz="1705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面倒や不安を減らす。</a:t>
            </a:r>
          </a:p>
          <a:p>
            <a:pPr algn="l">
              <a:lnSpc>
                <a:spcPct val="160000"/>
              </a:lnSpc>
            </a:pPr>
            <a:r>
              <a:rPr sz="1705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気軽に育てられる土壌をつくる。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9277" y="1588851"/>
            <a:ext cx="3891064" cy="4053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147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花なら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9277" y="2107660"/>
            <a:ext cx="3891064" cy="145914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</a:pPr>
            <a:r>
              <a:rPr sz="1705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ほかの贈り物とセットで届けて、</a:t>
            </a:r>
          </a:p>
          <a:p>
            <a:pPr algn="l">
              <a:lnSpc>
                <a:spcPct val="160000"/>
              </a:lnSpc>
            </a:pPr>
            <a:r>
              <a:rPr sz="1705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普段は花を買わない人にも</a:t>
            </a:r>
          </a:p>
          <a:p>
            <a:pPr algn="l">
              <a:lnSpc>
                <a:spcPct val="160000"/>
              </a:lnSpc>
            </a:pPr>
            <a:r>
              <a:rPr sz="1705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受け取ってもらう。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3957" y="3891064"/>
            <a:ext cx="8236086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453957" y="4215319"/>
            <a:ext cx="8236085" cy="162127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2147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「植物を育てるのっていいな」</a:t>
            </a:r>
          </a:p>
          <a:p>
            <a:pPr algn="l">
              <a:lnSpc>
                <a:spcPct val="145000"/>
              </a:lnSpc>
            </a:pPr>
            <a:r>
              <a:rPr sz="2147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「花をもらうっていいな」</a:t>
            </a:r>
          </a:p>
          <a:p>
            <a:pPr algn="l">
              <a:lnSpc>
                <a:spcPct val="145000"/>
              </a:lnSpc>
            </a:pPr>
            <a:r>
              <a:rPr sz="2147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「次は自分も</a:t>
            </a:r>
            <a:r>
              <a:rPr sz="2147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贈ってみよう</a:t>
            </a:r>
            <a:r>
              <a:rPr sz="2147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957" y="5836596"/>
            <a:ext cx="8106383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578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そんなきっかけを、いろんなシーンにつくっていく。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産業を支えているのは、最後に楽しむ人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3957" y="1913106"/>
            <a:ext cx="956553" cy="583660"/>
          </a:xfrm>
          <a:prstGeom prst="rect">
            <a:avLst/>
          </a:prstGeom>
          <a:noFill/>
          <a:ln w="19050">
            <a:solidFill>
              <a:srgbClr val="0043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957" y="1913106"/>
            <a:ext cx="956553" cy="5836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種苗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1475362" y="2148191"/>
            <a:ext cx="97277" cy="113489"/>
          </a:xfrm>
          <a:prstGeom prst="triangle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37489" y="1913106"/>
            <a:ext cx="956553" cy="583660"/>
          </a:xfrm>
          <a:prstGeom prst="rect">
            <a:avLst/>
          </a:prstGeom>
          <a:noFill/>
          <a:ln w="19050">
            <a:solidFill>
              <a:srgbClr val="0043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7489" y="1913106"/>
            <a:ext cx="956553" cy="5836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生産者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658894" y="2148191"/>
            <a:ext cx="97277" cy="113489"/>
          </a:xfrm>
          <a:prstGeom prst="triangle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21021" y="1913106"/>
            <a:ext cx="956553" cy="583660"/>
          </a:xfrm>
          <a:prstGeom prst="rect">
            <a:avLst/>
          </a:prstGeom>
          <a:noFill/>
          <a:ln w="19050">
            <a:solidFill>
              <a:srgbClr val="0043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1021" y="1913106"/>
            <a:ext cx="956553" cy="5836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卸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842426" y="2148191"/>
            <a:ext cx="97277" cy="113489"/>
          </a:xfrm>
          <a:prstGeom prst="triangle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04553" y="1913106"/>
            <a:ext cx="956553" cy="583660"/>
          </a:xfrm>
          <a:prstGeom prst="rect">
            <a:avLst/>
          </a:prstGeom>
          <a:noFill/>
          <a:ln w="19050">
            <a:solidFill>
              <a:srgbClr val="0043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4553" y="1913106"/>
            <a:ext cx="956553" cy="5836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仲卸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5025957" y="2148191"/>
            <a:ext cx="97277" cy="113489"/>
          </a:xfrm>
          <a:prstGeom prst="triangle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88085" y="1913106"/>
            <a:ext cx="956553" cy="583660"/>
          </a:xfrm>
          <a:prstGeom prst="rect">
            <a:avLst/>
          </a:prstGeom>
          <a:noFill/>
          <a:ln w="19050">
            <a:solidFill>
              <a:srgbClr val="0043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8085" y="1913106"/>
            <a:ext cx="956553" cy="5836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流通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6209489" y="2148191"/>
            <a:ext cx="97277" cy="113489"/>
          </a:xfrm>
          <a:prstGeom prst="triangle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1617" y="1913106"/>
            <a:ext cx="956553" cy="583660"/>
          </a:xfrm>
          <a:prstGeom prst="rect">
            <a:avLst/>
          </a:prstGeom>
          <a:noFill/>
          <a:ln w="19050">
            <a:solidFill>
              <a:srgbClr val="0043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1617" y="1913106"/>
            <a:ext cx="956553" cy="5836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50000"/>
              </a:lnSpc>
            </a:pP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小売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7393021" y="2148191"/>
            <a:ext cx="97277" cy="113489"/>
          </a:xfrm>
          <a:prstGeom prst="triangle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55149" y="1815830"/>
            <a:ext cx="1134894" cy="778213"/>
          </a:xfrm>
          <a:prstGeom prst="rect">
            <a:avLst/>
          </a:prstGeom>
          <a:solidFill>
            <a:srgbClr val="0043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5149" y="1815830"/>
            <a:ext cx="1134894" cy="77821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</a:pPr>
            <a:r>
              <a:rPr sz="1389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rPr>
              <a:t>買って</a:t>
            </a:r>
          </a:p>
          <a:p>
            <a:pPr algn="ctr">
              <a:lnSpc>
                <a:spcPct val="120000"/>
              </a:lnSpc>
            </a:pPr>
            <a:r>
              <a:rPr sz="1389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rPr>
              <a:t>楽しむ人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957" y="3242553"/>
            <a:ext cx="8236085" cy="129702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2905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最後にお金を払って、花や植物を楽しむ人が</a:t>
            </a:r>
          </a:p>
          <a:p>
            <a:pPr algn="l">
              <a:lnSpc>
                <a:spcPct val="140000"/>
              </a:lnSpc>
            </a:pPr>
            <a:r>
              <a:rPr sz="2905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いちばん大事。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957" y="4782766"/>
            <a:ext cx="8236085" cy="81063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</a:pPr>
            <a:r>
              <a:rPr sz="1768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買う・贈る・もらう・育てる機会を増やすことが、</a:t>
            </a:r>
          </a:p>
          <a:p>
            <a:pPr algn="l">
              <a:lnSpc>
                <a:spcPct val="160000"/>
              </a:lnSpc>
            </a:pPr>
            <a:r>
              <a:rPr sz="1768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産業全体への貢献</a:t>
            </a:r>
            <a:r>
              <a:rPr sz="1768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につながる。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どの事業も、同じところにつながっている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3957" y="1426723"/>
            <a:ext cx="486383" cy="51880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3031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617" y="1459149"/>
            <a:ext cx="7620000" cy="35668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957" b="1">
                <a:solidFill>
                  <a:srgbClr val="004347"/>
                </a:solidFill>
                <a:latin typeface="Outfit"/>
                <a:ea typeface="Outfit"/>
                <a:cs typeface="Outfit"/>
              </a:rPr>
              <a:t>AND PLANTS / AND FLOWER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617" y="1880681"/>
            <a:ext cx="7620000" cy="32425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578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自分たちで花や植物を販売し、楽しむ人を増やす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3957" y="2367064"/>
            <a:ext cx="8236086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53957" y="2529191"/>
            <a:ext cx="486383" cy="51880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3031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617" y="2561617"/>
            <a:ext cx="7620000" cy="35668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957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イネイブラー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617" y="2983149"/>
            <a:ext cx="7620000" cy="32425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578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いろんな事業者の商品と花をセットで届け、買う・贈る機会を増やす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3957" y="3469532"/>
            <a:ext cx="8236086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453957" y="3631660"/>
            <a:ext cx="486383" cy="51880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3031" b="1">
                <a:solidFill>
                  <a:srgbClr val="00D79C"/>
                </a:solidFill>
                <a:latin typeface="Outfit"/>
                <a:ea typeface="Outfit"/>
                <a:cs typeface="Outfi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617" y="3664085"/>
            <a:ext cx="7620000" cy="35668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957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ハナイチ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7617" y="4085617"/>
            <a:ext cx="7620000" cy="32425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578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花を売る人・教室や撮影で使う人が、もっと仕入れやすくする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3957" y="4572000"/>
            <a:ext cx="8236086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453957" y="4944894"/>
            <a:ext cx="1929319" cy="35668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入口を広げる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2415702" y="5042170"/>
            <a:ext cx="97277" cy="129702"/>
          </a:xfrm>
          <a:prstGeom prst="triangle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1617" y="4944894"/>
            <a:ext cx="1929319" cy="35668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楽しむ人が増える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4523362" y="5042170"/>
            <a:ext cx="97277" cy="129702"/>
          </a:xfrm>
          <a:prstGeom prst="triangle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9277" y="4944894"/>
            <a:ext cx="1929319" cy="35668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産業が良くなる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6631021" y="5042170"/>
            <a:ext cx="97277" cy="129702"/>
          </a:xfrm>
          <a:prstGeom prst="triangle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6936" y="4944894"/>
            <a:ext cx="1929319" cy="35668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578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Domuzも成長する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957" y="5512340"/>
            <a:ext cx="8236085" cy="32425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50000"/>
              </a:lnSpc>
            </a:pPr>
            <a:r>
              <a:rPr sz="1389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それぞれの事業で入口を広げ、利益を出して、また次の入口をつくる。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新しい入口は、届ける現場から生まれる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3957" y="843064"/>
            <a:ext cx="8106383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イネイブラー・高付加価値3PL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957" y="1588851"/>
            <a:ext cx="8236085" cy="129702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2273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他社の贈り物と花をセットにして、</a:t>
            </a:r>
          </a:p>
          <a:p>
            <a:pPr algn="l">
              <a:lnSpc>
                <a:spcPct val="145000"/>
              </a:lnSpc>
            </a:pPr>
            <a:r>
              <a:rPr sz="2273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きれいに、確実に届けられること。</a:t>
            </a:r>
          </a:p>
          <a:p>
            <a:pPr algn="l">
              <a:lnSpc>
                <a:spcPct val="145000"/>
              </a:lnSpc>
            </a:pPr>
            <a:r>
              <a:rPr sz="2273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それ自体が、</a:t>
            </a:r>
            <a:r>
              <a:rPr sz="2273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Domuzにしかない強み</a:t>
            </a:r>
            <a:r>
              <a:rPr sz="2273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3957" y="3242553"/>
            <a:ext cx="8236086" cy="0"/>
          </a:xfrm>
          <a:prstGeom prst="line">
            <a:avLst/>
          </a:prstGeom>
          <a:ln w="12700">
            <a:solidFill>
              <a:srgbClr val="C9CFC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53957" y="3437106"/>
            <a:ext cx="4863830" cy="2594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626262"/>
                </a:solidFill>
                <a:latin typeface="Zen Kaku Gothic New"/>
                <a:ea typeface="Zen Kaku Gothic New"/>
                <a:cs typeface="Zen Kaku Gothic New"/>
              </a:rPr>
              <a:t>第9期に動き出すもの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957" y="3793787"/>
            <a:ext cx="972766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10月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1574" y="3793787"/>
            <a:ext cx="7198468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生花イネイブラー 2件スタート予定（PAPABUBBLE／フレッシュロースター）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957" y="4182894"/>
            <a:ext cx="972766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10月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1574" y="4182894"/>
            <a:ext cx="7198468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HAKUBA CRAFT：クラフトビールを冷蔵保管し、生花とセットで発送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57" y="4572000"/>
            <a:ext cx="972766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母の日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1574" y="4572000"/>
            <a:ext cx="7198468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卸モデルの導入先から追加発注（昨年+50%の希望も）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57" y="4961106"/>
            <a:ext cx="972766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進行中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1574" y="4961106"/>
            <a:ext cx="7198468" cy="29183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389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カインズ・ハンズとの連携、ギフティとの共同提案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57" y="5544766"/>
            <a:ext cx="8236085" cy="48638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案件が増えるほど、手が慣れるほど、利益は大きくなる。</a:t>
            </a:r>
            <a:r>
              <a:rPr sz="1578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川崎の一箱一箱が、次の入口</a:t>
            </a:r>
            <a:r>
              <a:rPr sz="15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になる。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5年後、10年後に言われたいこと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3957" y="2107660"/>
            <a:ext cx="8236085" cy="19455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7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「Domuzというチームがいたから、</a:t>
            </a:r>
          </a:p>
          <a:p>
            <a:pPr algn="l">
              <a:lnSpc>
                <a:spcPct val="150000"/>
              </a:lnSpc>
            </a:pPr>
            <a:r>
              <a:rPr sz="27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花や植物を楽しむ文化が</a:t>
            </a:r>
            <a:r>
              <a:rPr sz="2778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広がった</a:t>
            </a:r>
            <a:r>
              <a:rPr sz="27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よね」</a:t>
            </a:r>
          </a:p>
          <a:p>
            <a:pPr algn="l">
              <a:lnSpc>
                <a:spcPct val="150000"/>
              </a:lnSpc>
            </a:pPr>
            <a:r>
              <a:rPr sz="27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「贈り物の価値が、もっと</a:t>
            </a:r>
            <a:r>
              <a:rPr sz="2778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高まった</a:t>
            </a:r>
            <a:r>
              <a:rPr sz="2778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よね」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957" y="4701702"/>
            <a:ext cx="8106383" cy="32425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1768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そう言われる会社にしたい。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51" cy="6858000"/>
          </a:xfrm>
          <a:prstGeom prst="rect">
            <a:avLst/>
          </a:prstGeom>
          <a:solidFill>
            <a:srgbClr val="00D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957" y="356681"/>
            <a:ext cx="8106383" cy="45395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最後に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1234" y="6501319"/>
            <a:ext cx="648511" cy="19455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50000"/>
              </a:lnSpc>
            </a:pPr>
            <a:r>
              <a:rPr sz="884" b="0">
                <a:solidFill>
                  <a:srgbClr val="999999"/>
                </a:solidFill>
                <a:latin typeface="Outfit"/>
                <a:ea typeface="Outfit"/>
                <a:cs typeface="Outfit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3957" y="2026596"/>
            <a:ext cx="8236085" cy="19455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652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花や植物を楽しむ人と機会を増やすことが、</a:t>
            </a:r>
          </a:p>
          <a:p>
            <a:pPr algn="l">
              <a:lnSpc>
                <a:spcPct val="150000"/>
              </a:lnSpc>
            </a:pPr>
            <a:r>
              <a:rPr sz="2652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産業の未来</a:t>
            </a:r>
            <a:r>
              <a:rPr sz="2652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にも、</a:t>
            </a:r>
            <a:r>
              <a:rPr sz="2652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Domuzの成長</a:t>
            </a:r>
            <a:r>
              <a:rPr sz="2652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にもつながる。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957" y="3810000"/>
            <a:ext cx="8106383" cy="97276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70000"/>
              </a:lnSpc>
            </a:pPr>
            <a:r>
              <a:rPr sz="1578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事業は違っても、向かっている先は同じ。</a:t>
            </a:r>
          </a:p>
          <a:p>
            <a:pPr algn="l">
              <a:lnSpc>
                <a:spcPct val="170000"/>
              </a:lnSpc>
            </a:pPr>
            <a:r>
              <a:rPr sz="1578" b="0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一人ひとりの仕事が、誰かの「花っていいな」の入口になっている。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957" y="5188085"/>
            <a:ext cx="8236085" cy="48638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</a:pPr>
            <a:r>
              <a:rPr sz="2526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第9期も、みんなで</a:t>
            </a:r>
            <a:r>
              <a:rPr sz="2526" b="1">
                <a:solidFill>
                  <a:srgbClr val="00D79C"/>
                </a:solidFill>
                <a:latin typeface="Zen Kaku Gothic New"/>
                <a:ea typeface="Zen Kaku Gothic New"/>
                <a:cs typeface="Zen Kaku Gothic New"/>
              </a:rPr>
              <a:t>楽しみながら</a:t>
            </a:r>
            <a:r>
              <a:rPr sz="2526" b="1">
                <a:solidFill>
                  <a:srgbClr val="004347"/>
                </a:solidFill>
                <a:latin typeface="Zen Kaku Gothic New"/>
                <a:ea typeface="Zen Kaku Gothic New"/>
                <a:cs typeface="Zen Kaku Gothic New"/>
              </a:rPr>
              <a:t>やり切ろう。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
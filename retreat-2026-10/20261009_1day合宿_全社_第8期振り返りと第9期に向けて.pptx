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8213" y="2172511"/>
            <a:ext cx="7295745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 spc="500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1DAY OFFSITE  2026.10.09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213" y="2626468"/>
            <a:ext cx="7782128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Domuz 全社</a:t>
            </a:r>
          </a:p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第8期の振り返りと、第9期に向けて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78213" y="4053191"/>
            <a:ext cx="518809" cy="324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8213" y="4377447"/>
            <a:ext cx="486383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株式会社Domuz　髙木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今後の方針を共有する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8213" y="1945532"/>
            <a:ext cx="3242553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合宿の目的  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2431915"/>
            <a:ext cx="1621277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8213" y="3810000"/>
            <a:ext cx="7782128" cy="72957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8213" y="1945532"/>
            <a:ext cx="3242553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合宿の目的  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2431915"/>
            <a:ext cx="1621277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8213" y="3810000"/>
            <a:ext cx="7782128" cy="72957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8213" y="1945532"/>
            <a:ext cx="3242553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合宿の目的  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2431915"/>
            <a:ext cx="1621277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8213" y="3810000"/>
            <a:ext cx="7782128" cy="72957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今後の方針を共有する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2431915"/>
            <a:ext cx="7846979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第8期、大変お疲れ様でした！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FY8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第8期の振り返り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数字と、起きたこと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 → 第8期（前年比）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+2%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064" y="3290753"/>
            <a:ext cx="778213" cy="1735204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0936" y="2998924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936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532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404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40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511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3957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2255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55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広告費込み限界利益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2255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+47%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1362" y="3810000"/>
            <a:ext cx="778213" cy="1215957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9234" y="351817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923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3830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1702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170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66809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72255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0553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0553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0553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660" y="3561030"/>
            <a:ext cx="778213" cy="1464928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7532" y="326920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4,540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753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82128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0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5,527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0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85106" y="5025957"/>
            <a:ext cx="2399490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290553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957" y="5593404"/>
            <a:ext cx="8106383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広告を絞っても売上は落とさず、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利益が大きく残る形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に変わった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AP/AFは自社EC＋モール、税抜（小松資料）。ハナイチは税抜・植木鉢＋生花ほか（比須田資料）。全社合計・イネイブラー／3PLは次ページ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259404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 売上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453957" y="2010383"/>
            <a:ext cx="2594043" cy="1621277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957" y="2010383"/>
            <a:ext cx="2594043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553" y="1588851"/>
            <a:ext cx="259404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 営業利益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2553" y="2010383"/>
            <a:ext cx="2594043" cy="1621277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2553" y="2010383"/>
            <a:ext cx="2594043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1149" y="1588851"/>
            <a:ext cx="259404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イネイブラー／3PL 売上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1149" y="2010383"/>
            <a:ext cx="2594043" cy="1621277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1149" y="2010383"/>
            <a:ext cx="2594043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（数字を入れたら、この1行を主張文に差し替え）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決算確定値で差し替え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第8期に変わったこと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431915"/>
            <a:ext cx="8106383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判断の基準が、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「売れるか」から「</a:t>
            </a: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利益が残るか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」に変わった。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AP/AFは広告費を約3割削り、利益を1.5倍に。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ハナイチは広告を減らしながら、注文数を2.3倍に。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第8期にやったこと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2025年10月〜2026年9月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3660" y="1913106"/>
            <a:ext cx="7976680" cy="0"/>
          </a:xfrm>
          <a:prstGeom prst="line">
            <a:avLst/>
          </a:prstGeom>
          <a:ln w="254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10702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7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51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初売り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セール</a:t>
            </a:r>
          </a:p>
        </p:txBody>
      </p:sp>
      <p:sp>
        <p:nvSpPr>
          <p:cNvPr id="10" name="Oval 9"/>
          <p:cNvSpPr/>
          <p:nvPr/>
        </p:nvSpPr>
        <p:spPr>
          <a:xfrm>
            <a:off x="1650228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680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377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広告方針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の転換</a:t>
            </a:r>
          </a:p>
        </p:txBody>
      </p:sp>
      <p:sp>
        <p:nvSpPr>
          <p:cNvPr id="13" name="Oval 12"/>
          <p:cNvSpPr/>
          <p:nvPr/>
        </p:nvSpPr>
        <p:spPr>
          <a:xfrm>
            <a:off x="2789754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6328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903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月商1億</a:t>
            </a:r>
          </a:p>
        </p:txBody>
      </p:sp>
      <p:sp>
        <p:nvSpPr>
          <p:cNvPr id="16" name="Oval 15"/>
          <p:cNvSpPr/>
          <p:nvPr/>
        </p:nvSpPr>
        <p:spPr>
          <a:xfrm>
            <a:off x="3929280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5854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429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ブランド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分割</a:t>
            </a:r>
          </a:p>
        </p:txBody>
      </p:sp>
      <p:sp>
        <p:nvSpPr>
          <p:cNvPr id="19" name="Oval 18"/>
          <p:cNvSpPr/>
          <p:nvPr/>
        </p:nvSpPr>
        <p:spPr>
          <a:xfrm>
            <a:off x="5068805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5380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954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植物アプリ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</a:t>
            </a:r>
          </a:p>
        </p:txBody>
      </p:sp>
      <p:sp>
        <p:nvSpPr>
          <p:cNvPr id="22" name="Oval 21"/>
          <p:cNvSpPr/>
          <p:nvPr/>
        </p:nvSpPr>
        <p:spPr>
          <a:xfrm>
            <a:off x="6208331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4906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2480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法人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コンシェルジュ</a:t>
            </a:r>
          </a:p>
        </p:txBody>
      </p:sp>
      <p:sp>
        <p:nvSpPr>
          <p:cNvPr id="25" name="Oval 24"/>
          <p:cNvSpPr/>
          <p:nvPr/>
        </p:nvSpPr>
        <p:spPr>
          <a:xfrm>
            <a:off x="7347857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443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2006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イベント</a:t>
            </a:r>
          </a:p>
        </p:txBody>
      </p:sp>
      <p:sp>
        <p:nvSpPr>
          <p:cNvPr id="28" name="Oval 27"/>
          <p:cNvSpPr/>
          <p:nvPr/>
        </p:nvSpPr>
        <p:spPr>
          <a:xfrm>
            <a:off x="8487383" y="1840149"/>
            <a:ext cx="145915" cy="145915"/>
          </a:xfrm>
          <a:prstGeom prst="ellipse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395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1532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卸の再発注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3957" y="3566809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3957" y="3891064"/>
            <a:ext cx="8106383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ハナイチの生花は、限界利益が赤字から黒字へ。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中目黒のイベントには約1万人が来場、1,300件を販売。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イネイブラーは母の日の卸先から、昨年+50%の発注希望。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FY9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第9期に向けて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数字の目標と、なぜやるのか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 → 第9期 計画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362" y="3239851"/>
            <a:ext cx="778213" cy="1299723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1234" y="2948021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7.4億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170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5830" y="2431915"/>
            <a:ext cx="778213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3702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12.0億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638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3660" y="4539574"/>
            <a:ext cx="2431914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395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2553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広告費込み限界利益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2553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957" y="3214760"/>
            <a:ext cx="778213" cy="1324815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830" y="292293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2.2億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8766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426" y="2431915"/>
            <a:ext cx="778213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2298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3.5億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23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72255" y="4539574"/>
            <a:ext cx="2431915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42553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1149" y="1394298"/>
            <a:ext cx="267510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 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1149" y="2010383"/>
            <a:ext cx="2594043" cy="2529191"/>
          </a:xfrm>
          <a:prstGeom prst="rect">
            <a:avLst/>
          </a:prstGeom>
          <a:noFill/>
          <a:ln w="19050">
            <a:solidFill>
              <a:srgbClr val="00434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1149" y="2010383"/>
            <a:ext cx="2594043" cy="2529191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40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算出中</a:t>
            </a:r>
          </a:p>
          <a:p>
            <a:pPr algn="ctr">
              <a:lnSpc>
                <a:spcPct val="140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（黒字化）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57" y="5674468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事業計画を各チームの数字に下ろし、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毎月計画との差を見て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動く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AP/AFは小松資料の第9期計画。ハナイチ・イネイブラー／3PLの数値目標は事業計画で別途設定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WHY WE DO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なぜ、僕らがこれをやるのか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ミッションと、各事業のつながり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出発点は、ミッション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913106"/>
            <a:ext cx="7295745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 spc="40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- OUR MISSION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334638"/>
            <a:ext cx="8236085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ITとデザインで、</a:t>
            </a:r>
          </a:p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緑のある暮らし</a:t>
            </a: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をもっと身近に。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4215319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根っこにあるのは、「花や植物っていいよね」という気持ち。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育てる楽しさ、もらったときのうれしさを、もっと多くの人に。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今、感じている危機感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269787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このままだと、花や植物を楽しむ文化が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小さくなってしまう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かもしれない。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053191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生産者の減少。花をつくること、売ることの難しさ。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そこを、Domuzが変えていきたい。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だから、楽しむ人の「裾野」を広げる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植物なら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買うとき・育てるときの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面倒や不安を減らす。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気軽に育てられる土壌をつくる。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927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花なら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927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ほかの贈り物とセットで届けて、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普段は花を買わない人にも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受け取ってもらう。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957" y="3891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3957" y="4215319"/>
            <a:ext cx="8236085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「植物を育てるのっていいな」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「花をもらうっていいな」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「次は自分も</a:t>
            </a: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贈ってみよう</a:t>
            </a: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5836596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そんなきっかけを、いろんなシーンにつくっていく。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産業を支えているのは、最後に楽しむ人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種苗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0511" y="1913106"/>
            <a:ext cx="226979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8" name="Rectangle 7"/>
          <p:cNvSpPr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4043" y="1913106"/>
            <a:ext cx="226979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7574" y="1913106"/>
            <a:ext cx="226979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仲卸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1106" y="1913106"/>
            <a:ext cx="226979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流通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638" y="1913106"/>
            <a:ext cx="226979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小売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28170" y="1913106"/>
            <a:ext cx="226979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買って</a:t>
            </a:r>
          </a:p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楽しむ人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957" y="3242553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最後にお金を払って、花や植物を楽しむ人が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いちばん大事。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4782766"/>
            <a:ext cx="8236085" cy="8106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買う・贈る・もらう・育てる機会を増やすことが、</a:t>
            </a:r>
          </a:p>
          <a:p>
            <a:pPr algn="l">
              <a:lnSpc>
                <a:spcPct val="16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産業全体への貢献</a:t>
            </a: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につながる。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どの事業も、同じところにつながっている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426723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617" y="1459149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617" y="1880681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自分たちで花や植物を販売し、楽しむ人を増やす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3957" y="2367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3957" y="2529191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617" y="2561617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617" y="2983149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いろんな事業者の商品と花をセットで届け、買う・贈る機会を増やす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957" y="3469532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3957" y="3631660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617" y="3664085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617" y="4085617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花を売る人・教室や撮影で使う人が、もっと仕入れやすくする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3957" y="4572000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395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入口を広げる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0851" y="4944894"/>
            <a:ext cx="243191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161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楽しむ人が増える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8511" y="4944894"/>
            <a:ext cx="243191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927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産業が良くなる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6170" y="4944894"/>
            <a:ext cx="243191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76936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Domuzも成長する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57" y="5512340"/>
            <a:ext cx="8236085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それぞれの事業で入口を広げ、利益を出して、また次の入口をつくる。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新しい入口は、届ける現場から生まれる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イネイブラー・高付加価値3PL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他社の贈り物と花をセットにして、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きれいに、確実に届けられること。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それ自体が、</a:t>
            </a:r>
            <a:r>
              <a:rPr sz="2273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Domuzにしかない強み</a:t>
            </a: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3957" y="3242553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3957" y="3437106"/>
            <a:ext cx="4863830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第9期に動き出すもの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793787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1574" y="3793787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生花イネイブラー 2件スタート予定（PAPABUBBLE／フレッシュロースター）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182894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1574" y="4182894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HAKUBA CRAFT：クラフトビールを冷蔵保管し、生花とセットで発送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57" y="4572000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1574" y="4572000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卸モデルの導入先から追加発注（昨年+50%の希望も）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961106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進行中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1574" y="4961106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カインズ・ハンズとの連携、ギフティとの共同提案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57" y="5544766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案件が増えるほど、手が慣れるほど、利益は大きくなる。</a:t>
            </a: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川崎の一箱一箱が、次の入口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になる。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5年後、10年後に言われたいこと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107660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「Domuzというチームがいたから、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花や植物を楽しむ文化が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広がった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「贈り物の価値が、もっと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高まった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701702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そう言われる会社にしたい。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026596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花や植物を楽しむ人と機会を増やすことが、</a:t>
            </a:r>
          </a:p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産業の未来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にも、</a:t>
            </a: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Domuzの成長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にもつながる。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3810000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事業は違っても、向かっている先は同じ。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一人ひとりの仕事が、誰かの「花っていいな」の入口になっている。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5188085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第9期も、みんなで</a:t>
            </a:r>
            <a:r>
              <a:rPr sz="2526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楽しみながら</a:t>
            </a: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やり切ろう。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